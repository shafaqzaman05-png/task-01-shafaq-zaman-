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presProps" Target="pres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04E2F-7BAD-B47F-446A-0355ADE48D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FB922BF-19DA-759B-FB2D-6C1AC71CEE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FD69B56-7D00-98F6-18AA-19CD8E0ED8A0}"/>
              </a:ext>
            </a:extLst>
          </p:cNvPr>
          <p:cNvSpPr>
            <a:spLocks noGrp="1"/>
          </p:cNvSpPr>
          <p:nvPr>
            <p:ph type="dt" sz="half" idx="10"/>
          </p:nvPr>
        </p:nvSpPr>
        <p:spPr/>
        <p:txBody>
          <a:bodyPr/>
          <a:lstStyle/>
          <a:p>
            <a:fld id="{5F90B282-46E2-8946-993E-B20C3B4ADCF3}" type="datetimeFigureOut">
              <a:rPr lang="en-US" smtClean="0"/>
              <a:t>8/21/2026</a:t>
            </a:fld>
            <a:endParaRPr lang="en-US"/>
          </a:p>
        </p:txBody>
      </p:sp>
      <p:sp>
        <p:nvSpPr>
          <p:cNvPr id="5" name="Footer Placeholder 4">
            <a:extLst>
              <a:ext uri="{FF2B5EF4-FFF2-40B4-BE49-F238E27FC236}">
                <a16:creationId xmlns:a16="http://schemas.microsoft.com/office/drawing/2014/main" id="{72259B99-B17F-6E51-25DA-9CF3194166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562E7-FB58-34DB-84C9-04B473B9686B}"/>
              </a:ext>
            </a:extLst>
          </p:cNvPr>
          <p:cNvSpPr>
            <a:spLocks noGrp="1"/>
          </p:cNvSpPr>
          <p:nvPr>
            <p:ph type="sldNum" sz="quarter" idx="12"/>
          </p:nvPr>
        </p:nvSpPr>
        <p:spPr/>
        <p:txBody>
          <a:bodyPr/>
          <a:lstStyle/>
          <a:p>
            <a:fld id="{E9EE2200-DDDF-A34F-AC35-926DC27C2334}" type="slidenum">
              <a:rPr lang="en-US" smtClean="0"/>
              <a:t>‹#›</a:t>
            </a:fld>
            <a:endParaRPr lang="en-US"/>
          </a:p>
        </p:txBody>
      </p:sp>
    </p:spTree>
    <p:extLst>
      <p:ext uri="{BB962C8B-B14F-4D97-AF65-F5344CB8AC3E}">
        <p14:creationId xmlns:p14="http://schemas.microsoft.com/office/powerpoint/2010/main" val="856714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83886-E536-2802-7D47-33C2B976F1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81B150-6412-4CD5-C996-04B5E6B442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F8E431-8D78-4E4E-9BAF-447BF648EE9A}"/>
              </a:ext>
            </a:extLst>
          </p:cNvPr>
          <p:cNvSpPr>
            <a:spLocks noGrp="1"/>
          </p:cNvSpPr>
          <p:nvPr>
            <p:ph type="dt" sz="half" idx="10"/>
          </p:nvPr>
        </p:nvSpPr>
        <p:spPr/>
        <p:txBody>
          <a:bodyPr/>
          <a:lstStyle/>
          <a:p>
            <a:fld id="{5F90B282-46E2-8946-993E-B20C3B4ADCF3}" type="datetimeFigureOut">
              <a:rPr lang="en-US" smtClean="0"/>
              <a:t>8/21/2026</a:t>
            </a:fld>
            <a:endParaRPr lang="en-US"/>
          </a:p>
        </p:txBody>
      </p:sp>
      <p:sp>
        <p:nvSpPr>
          <p:cNvPr id="5" name="Footer Placeholder 4">
            <a:extLst>
              <a:ext uri="{FF2B5EF4-FFF2-40B4-BE49-F238E27FC236}">
                <a16:creationId xmlns:a16="http://schemas.microsoft.com/office/drawing/2014/main" id="{50FDA9D8-7D52-6694-2B8E-5A77118DFE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38BE1A-FDBC-6295-A4F2-FDFC8F880C23}"/>
              </a:ext>
            </a:extLst>
          </p:cNvPr>
          <p:cNvSpPr>
            <a:spLocks noGrp="1"/>
          </p:cNvSpPr>
          <p:nvPr>
            <p:ph type="sldNum" sz="quarter" idx="12"/>
          </p:nvPr>
        </p:nvSpPr>
        <p:spPr/>
        <p:txBody>
          <a:bodyPr/>
          <a:lstStyle/>
          <a:p>
            <a:fld id="{E9EE2200-DDDF-A34F-AC35-926DC27C2334}" type="slidenum">
              <a:rPr lang="en-US" smtClean="0"/>
              <a:t>‹#›</a:t>
            </a:fld>
            <a:endParaRPr lang="en-US"/>
          </a:p>
        </p:txBody>
      </p:sp>
    </p:spTree>
    <p:extLst>
      <p:ext uri="{BB962C8B-B14F-4D97-AF65-F5344CB8AC3E}">
        <p14:creationId xmlns:p14="http://schemas.microsoft.com/office/powerpoint/2010/main" val="3921248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B91A9-7270-824E-B9BB-116F518D01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F2AF9B5-06B5-A586-4232-7108F41DA6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EB80D0-23E8-378E-712D-23FA219F7045}"/>
              </a:ext>
            </a:extLst>
          </p:cNvPr>
          <p:cNvSpPr>
            <a:spLocks noGrp="1"/>
          </p:cNvSpPr>
          <p:nvPr>
            <p:ph type="dt" sz="half" idx="10"/>
          </p:nvPr>
        </p:nvSpPr>
        <p:spPr/>
        <p:txBody>
          <a:bodyPr/>
          <a:lstStyle/>
          <a:p>
            <a:fld id="{5F90B282-46E2-8946-993E-B20C3B4ADCF3}" type="datetimeFigureOut">
              <a:rPr lang="en-US" smtClean="0"/>
              <a:t>8/21/2026</a:t>
            </a:fld>
            <a:endParaRPr lang="en-US"/>
          </a:p>
        </p:txBody>
      </p:sp>
      <p:sp>
        <p:nvSpPr>
          <p:cNvPr id="5" name="Footer Placeholder 4">
            <a:extLst>
              <a:ext uri="{FF2B5EF4-FFF2-40B4-BE49-F238E27FC236}">
                <a16:creationId xmlns:a16="http://schemas.microsoft.com/office/drawing/2014/main" id="{35EAACDC-2100-CA6F-704B-C1119092AB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93ACA9-F99D-58F7-A450-8B5C62340E7F}"/>
              </a:ext>
            </a:extLst>
          </p:cNvPr>
          <p:cNvSpPr>
            <a:spLocks noGrp="1"/>
          </p:cNvSpPr>
          <p:nvPr>
            <p:ph type="sldNum" sz="quarter" idx="12"/>
          </p:nvPr>
        </p:nvSpPr>
        <p:spPr/>
        <p:txBody>
          <a:bodyPr/>
          <a:lstStyle/>
          <a:p>
            <a:fld id="{E9EE2200-DDDF-A34F-AC35-926DC27C2334}" type="slidenum">
              <a:rPr lang="en-US" smtClean="0"/>
              <a:t>‹#›</a:t>
            </a:fld>
            <a:endParaRPr lang="en-US"/>
          </a:p>
        </p:txBody>
      </p:sp>
    </p:spTree>
    <p:extLst>
      <p:ext uri="{BB962C8B-B14F-4D97-AF65-F5344CB8AC3E}">
        <p14:creationId xmlns:p14="http://schemas.microsoft.com/office/powerpoint/2010/main" val="2542999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2E43-73A1-9800-3737-109868D6A0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45AE36-D25A-554D-F47F-6E42D1A304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0830C00-5665-CFC6-B799-F3B5F61E9B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DE67E1-4B96-3696-B011-085E4F9D4920}"/>
              </a:ext>
            </a:extLst>
          </p:cNvPr>
          <p:cNvSpPr>
            <a:spLocks noGrp="1"/>
          </p:cNvSpPr>
          <p:nvPr>
            <p:ph type="dt" sz="half" idx="10"/>
          </p:nvPr>
        </p:nvSpPr>
        <p:spPr/>
        <p:txBody>
          <a:bodyPr/>
          <a:lstStyle/>
          <a:p>
            <a:fld id="{5F90B282-46E2-8946-993E-B20C3B4ADCF3}" type="datetimeFigureOut">
              <a:rPr lang="en-US" smtClean="0"/>
              <a:t>8/21/2026</a:t>
            </a:fld>
            <a:endParaRPr lang="en-US"/>
          </a:p>
        </p:txBody>
      </p:sp>
      <p:sp>
        <p:nvSpPr>
          <p:cNvPr id="6" name="Footer Placeholder 5">
            <a:extLst>
              <a:ext uri="{FF2B5EF4-FFF2-40B4-BE49-F238E27FC236}">
                <a16:creationId xmlns:a16="http://schemas.microsoft.com/office/drawing/2014/main" id="{460F6F21-7B74-4CD5-F400-0C4917E4A5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63F868-BCF6-FCC0-1918-37D56D0646BF}"/>
              </a:ext>
            </a:extLst>
          </p:cNvPr>
          <p:cNvSpPr>
            <a:spLocks noGrp="1"/>
          </p:cNvSpPr>
          <p:nvPr>
            <p:ph type="sldNum" sz="quarter" idx="12"/>
          </p:nvPr>
        </p:nvSpPr>
        <p:spPr/>
        <p:txBody>
          <a:bodyPr/>
          <a:lstStyle/>
          <a:p>
            <a:fld id="{E9EE2200-DDDF-A34F-AC35-926DC27C2334}" type="slidenum">
              <a:rPr lang="en-US" smtClean="0"/>
              <a:t>‹#›</a:t>
            </a:fld>
            <a:endParaRPr lang="en-US"/>
          </a:p>
        </p:txBody>
      </p:sp>
    </p:spTree>
    <p:extLst>
      <p:ext uri="{BB962C8B-B14F-4D97-AF65-F5344CB8AC3E}">
        <p14:creationId xmlns:p14="http://schemas.microsoft.com/office/powerpoint/2010/main" val="577511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A5547-B29C-B99F-10BD-EAC7F9FF1E9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619756D-98CA-4ABF-BE2E-247FAF3CD2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BD0BAE-2466-D007-4EEE-527C43E839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327AE9-CDF0-CF30-B086-ABD01EB26F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549079-CCCC-804E-2402-26F5DBB81C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9E400C-A9C0-6E81-4D1A-14E3865F7588}"/>
              </a:ext>
            </a:extLst>
          </p:cNvPr>
          <p:cNvSpPr>
            <a:spLocks noGrp="1"/>
          </p:cNvSpPr>
          <p:nvPr>
            <p:ph type="dt" sz="half" idx="10"/>
          </p:nvPr>
        </p:nvSpPr>
        <p:spPr/>
        <p:txBody>
          <a:bodyPr/>
          <a:lstStyle/>
          <a:p>
            <a:fld id="{5F90B282-46E2-8946-993E-B20C3B4ADCF3}" type="datetimeFigureOut">
              <a:rPr lang="en-US" smtClean="0"/>
              <a:t>8/21/2026</a:t>
            </a:fld>
            <a:endParaRPr lang="en-US"/>
          </a:p>
        </p:txBody>
      </p:sp>
      <p:sp>
        <p:nvSpPr>
          <p:cNvPr id="8" name="Footer Placeholder 7">
            <a:extLst>
              <a:ext uri="{FF2B5EF4-FFF2-40B4-BE49-F238E27FC236}">
                <a16:creationId xmlns:a16="http://schemas.microsoft.com/office/drawing/2014/main" id="{D93C0737-3D8D-AF08-FCC2-75A08A0EFF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ED0F15-995C-6E1B-5E22-BFAA3E826683}"/>
              </a:ext>
            </a:extLst>
          </p:cNvPr>
          <p:cNvSpPr>
            <a:spLocks noGrp="1"/>
          </p:cNvSpPr>
          <p:nvPr>
            <p:ph type="sldNum" sz="quarter" idx="12"/>
          </p:nvPr>
        </p:nvSpPr>
        <p:spPr/>
        <p:txBody>
          <a:bodyPr/>
          <a:lstStyle/>
          <a:p>
            <a:fld id="{E9EE2200-DDDF-A34F-AC35-926DC27C2334}" type="slidenum">
              <a:rPr lang="en-US" smtClean="0"/>
              <a:t>‹#›</a:t>
            </a:fld>
            <a:endParaRPr lang="en-US"/>
          </a:p>
        </p:txBody>
      </p:sp>
    </p:spTree>
    <p:extLst>
      <p:ext uri="{BB962C8B-B14F-4D97-AF65-F5344CB8AC3E}">
        <p14:creationId xmlns:p14="http://schemas.microsoft.com/office/powerpoint/2010/main" val="2694420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9F1D2-754B-914A-62CB-EF081A536B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A77D616-86D8-98B5-1E4B-436593DA85ED}"/>
              </a:ext>
            </a:extLst>
          </p:cNvPr>
          <p:cNvSpPr>
            <a:spLocks noGrp="1"/>
          </p:cNvSpPr>
          <p:nvPr>
            <p:ph type="dt" sz="half" idx="10"/>
          </p:nvPr>
        </p:nvSpPr>
        <p:spPr/>
        <p:txBody>
          <a:bodyPr/>
          <a:lstStyle/>
          <a:p>
            <a:fld id="{5F90B282-46E2-8946-993E-B20C3B4ADCF3}" type="datetimeFigureOut">
              <a:rPr lang="en-US" smtClean="0"/>
              <a:t>8/21/2026</a:t>
            </a:fld>
            <a:endParaRPr lang="en-US"/>
          </a:p>
        </p:txBody>
      </p:sp>
      <p:sp>
        <p:nvSpPr>
          <p:cNvPr id="4" name="Footer Placeholder 3">
            <a:extLst>
              <a:ext uri="{FF2B5EF4-FFF2-40B4-BE49-F238E27FC236}">
                <a16:creationId xmlns:a16="http://schemas.microsoft.com/office/drawing/2014/main" id="{094C645E-BD45-3710-874F-4629C6432C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E435BE-0146-6647-6517-B4EB8B7D8407}"/>
              </a:ext>
            </a:extLst>
          </p:cNvPr>
          <p:cNvSpPr>
            <a:spLocks noGrp="1"/>
          </p:cNvSpPr>
          <p:nvPr>
            <p:ph type="sldNum" sz="quarter" idx="12"/>
          </p:nvPr>
        </p:nvSpPr>
        <p:spPr/>
        <p:txBody>
          <a:bodyPr/>
          <a:lstStyle/>
          <a:p>
            <a:fld id="{E9EE2200-DDDF-A34F-AC35-926DC27C2334}" type="slidenum">
              <a:rPr lang="en-US" smtClean="0"/>
              <a:t>‹#›</a:t>
            </a:fld>
            <a:endParaRPr lang="en-US"/>
          </a:p>
        </p:txBody>
      </p:sp>
    </p:spTree>
    <p:extLst>
      <p:ext uri="{BB962C8B-B14F-4D97-AF65-F5344CB8AC3E}">
        <p14:creationId xmlns:p14="http://schemas.microsoft.com/office/powerpoint/2010/main" val="2714610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D4D2B1-9593-6605-3D6F-DD5025D4AAA5}"/>
              </a:ext>
            </a:extLst>
          </p:cNvPr>
          <p:cNvSpPr>
            <a:spLocks noGrp="1"/>
          </p:cNvSpPr>
          <p:nvPr>
            <p:ph type="dt" sz="half" idx="10"/>
          </p:nvPr>
        </p:nvSpPr>
        <p:spPr/>
        <p:txBody>
          <a:bodyPr/>
          <a:lstStyle/>
          <a:p>
            <a:fld id="{5F90B282-46E2-8946-993E-B20C3B4ADCF3}" type="datetimeFigureOut">
              <a:rPr lang="en-US" smtClean="0"/>
              <a:t>8/21/2026</a:t>
            </a:fld>
            <a:endParaRPr lang="en-US"/>
          </a:p>
        </p:txBody>
      </p:sp>
      <p:sp>
        <p:nvSpPr>
          <p:cNvPr id="3" name="Footer Placeholder 2">
            <a:extLst>
              <a:ext uri="{FF2B5EF4-FFF2-40B4-BE49-F238E27FC236}">
                <a16:creationId xmlns:a16="http://schemas.microsoft.com/office/drawing/2014/main" id="{71893763-18C9-E9E6-7F67-924C74646D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30D020E-D3DC-09EF-003F-426441A47201}"/>
              </a:ext>
            </a:extLst>
          </p:cNvPr>
          <p:cNvSpPr>
            <a:spLocks noGrp="1"/>
          </p:cNvSpPr>
          <p:nvPr>
            <p:ph type="sldNum" sz="quarter" idx="12"/>
          </p:nvPr>
        </p:nvSpPr>
        <p:spPr/>
        <p:txBody>
          <a:bodyPr/>
          <a:lstStyle/>
          <a:p>
            <a:fld id="{E9EE2200-DDDF-A34F-AC35-926DC27C2334}" type="slidenum">
              <a:rPr lang="en-US" smtClean="0"/>
              <a:t>‹#›</a:t>
            </a:fld>
            <a:endParaRPr lang="en-US"/>
          </a:p>
        </p:txBody>
      </p:sp>
    </p:spTree>
    <p:extLst>
      <p:ext uri="{BB962C8B-B14F-4D97-AF65-F5344CB8AC3E}">
        <p14:creationId xmlns:p14="http://schemas.microsoft.com/office/powerpoint/2010/main" val="991870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A067-1474-4593-DEB0-C622D2D985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DEF19E-09F2-ED66-10AC-6F466CD13B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4D1630-7822-3C8E-DC60-21BA391017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E26789-F447-432F-4256-B087B4914B07}"/>
              </a:ext>
            </a:extLst>
          </p:cNvPr>
          <p:cNvSpPr>
            <a:spLocks noGrp="1"/>
          </p:cNvSpPr>
          <p:nvPr>
            <p:ph type="dt" sz="half" idx="10"/>
          </p:nvPr>
        </p:nvSpPr>
        <p:spPr/>
        <p:txBody>
          <a:bodyPr/>
          <a:lstStyle/>
          <a:p>
            <a:fld id="{5F90B282-46E2-8946-993E-B20C3B4ADCF3}" type="datetimeFigureOut">
              <a:rPr lang="en-US" smtClean="0"/>
              <a:t>8/21/2026</a:t>
            </a:fld>
            <a:endParaRPr lang="en-US"/>
          </a:p>
        </p:txBody>
      </p:sp>
      <p:sp>
        <p:nvSpPr>
          <p:cNvPr id="6" name="Footer Placeholder 5">
            <a:extLst>
              <a:ext uri="{FF2B5EF4-FFF2-40B4-BE49-F238E27FC236}">
                <a16:creationId xmlns:a16="http://schemas.microsoft.com/office/drawing/2014/main" id="{E0A81D64-B3E2-C1C9-02EE-72F9E8F500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304E4B-0925-4F64-94E8-EC0BA7C88C55}"/>
              </a:ext>
            </a:extLst>
          </p:cNvPr>
          <p:cNvSpPr>
            <a:spLocks noGrp="1"/>
          </p:cNvSpPr>
          <p:nvPr>
            <p:ph type="sldNum" sz="quarter" idx="12"/>
          </p:nvPr>
        </p:nvSpPr>
        <p:spPr/>
        <p:txBody>
          <a:bodyPr/>
          <a:lstStyle/>
          <a:p>
            <a:fld id="{E9EE2200-DDDF-A34F-AC35-926DC27C2334}" type="slidenum">
              <a:rPr lang="en-US" smtClean="0"/>
              <a:t>‹#›</a:t>
            </a:fld>
            <a:endParaRPr lang="en-US"/>
          </a:p>
        </p:txBody>
      </p:sp>
    </p:spTree>
    <p:extLst>
      <p:ext uri="{BB962C8B-B14F-4D97-AF65-F5344CB8AC3E}">
        <p14:creationId xmlns:p14="http://schemas.microsoft.com/office/powerpoint/2010/main" val="2760059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3568F-911D-CD3E-7C11-A4D994ADF6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30E0E1-D433-45BB-5CF1-473ABA26C8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05A807-5293-3017-AF7C-B7A25F5098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F5C56F-1560-2167-204D-8C5F34923E9D}"/>
              </a:ext>
            </a:extLst>
          </p:cNvPr>
          <p:cNvSpPr>
            <a:spLocks noGrp="1"/>
          </p:cNvSpPr>
          <p:nvPr>
            <p:ph type="dt" sz="half" idx="10"/>
          </p:nvPr>
        </p:nvSpPr>
        <p:spPr/>
        <p:txBody>
          <a:bodyPr/>
          <a:lstStyle/>
          <a:p>
            <a:fld id="{5F90B282-46E2-8946-993E-B20C3B4ADCF3}" type="datetimeFigureOut">
              <a:rPr lang="en-US" smtClean="0"/>
              <a:t>8/21/2026</a:t>
            </a:fld>
            <a:endParaRPr lang="en-US"/>
          </a:p>
        </p:txBody>
      </p:sp>
      <p:sp>
        <p:nvSpPr>
          <p:cNvPr id="6" name="Footer Placeholder 5">
            <a:extLst>
              <a:ext uri="{FF2B5EF4-FFF2-40B4-BE49-F238E27FC236}">
                <a16:creationId xmlns:a16="http://schemas.microsoft.com/office/drawing/2014/main" id="{CCF133A9-A637-C043-E2C7-6D93974EB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16740F-1D8B-309C-9E4C-55D8F40572AF}"/>
              </a:ext>
            </a:extLst>
          </p:cNvPr>
          <p:cNvSpPr>
            <a:spLocks noGrp="1"/>
          </p:cNvSpPr>
          <p:nvPr>
            <p:ph type="sldNum" sz="quarter" idx="12"/>
          </p:nvPr>
        </p:nvSpPr>
        <p:spPr/>
        <p:txBody>
          <a:bodyPr/>
          <a:lstStyle/>
          <a:p>
            <a:fld id="{E9EE2200-DDDF-A34F-AC35-926DC27C2334}" type="slidenum">
              <a:rPr lang="en-US" smtClean="0"/>
              <a:t>‹#›</a:t>
            </a:fld>
            <a:endParaRPr lang="en-US"/>
          </a:p>
        </p:txBody>
      </p:sp>
    </p:spTree>
    <p:extLst>
      <p:ext uri="{BB962C8B-B14F-4D97-AF65-F5344CB8AC3E}">
        <p14:creationId xmlns:p14="http://schemas.microsoft.com/office/powerpoint/2010/main" val="18899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15037-7A31-C19F-DCFA-07BE86099C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A0D9D7-BF19-2E51-B155-F431421F1C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00EA52-97A4-7F20-720A-7FD01F01AE98}"/>
              </a:ext>
            </a:extLst>
          </p:cNvPr>
          <p:cNvSpPr>
            <a:spLocks noGrp="1"/>
          </p:cNvSpPr>
          <p:nvPr>
            <p:ph type="dt" sz="half" idx="10"/>
          </p:nvPr>
        </p:nvSpPr>
        <p:spPr/>
        <p:txBody>
          <a:bodyPr/>
          <a:lstStyle/>
          <a:p>
            <a:fld id="{5F90B282-46E2-8946-993E-B20C3B4ADCF3}" type="datetimeFigureOut">
              <a:rPr lang="en-US" smtClean="0"/>
              <a:t>8/21/2026</a:t>
            </a:fld>
            <a:endParaRPr lang="en-US"/>
          </a:p>
        </p:txBody>
      </p:sp>
      <p:sp>
        <p:nvSpPr>
          <p:cNvPr id="5" name="Footer Placeholder 4">
            <a:extLst>
              <a:ext uri="{FF2B5EF4-FFF2-40B4-BE49-F238E27FC236}">
                <a16:creationId xmlns:a16="http://schemas.microsoft.com/office/drawing/2014/main" id="{AF7F70B4-E940-E4A2-EC64-0C268F6985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6FF61F-33B4-19F5-ABC5-D1D01C8A1880}"/>
              </a:ext>
            </a:extLst>
          </p:cNvPr>
          <p:cNvSpPr>
            <a:spLocks noGrp="1"/>
          </p:cNvSpPr>
          <p:nvPr>
            <p:ph type="sldNum" sz="quarter" idx="12"/>
          </p:nvPr>
        </p:nvSpPr>
        <p:spPr/>
        <p:txBody>
          <a:bodyPr/>
          <a:lstStyle/>
          <a:p>
            <a:fld id="{E9EE2200-DDDF-A34F-AC35-926DC27C2334}" type="slidenum">
              <a:rPr lang="en-US" smtClean="0"/>
              <a:t>‹#›</a:t>
            </a:fld>
            <a:endParaRPr lang="en-US"/>
          </a:p>
        </p:txBody>
      </p:sp>
    </p:spTree>
    <p:extLst>
      <p:ext uri="{BB962C8B-B14F-4D97-AF65-F5344CB8AC3E}">
        <p14:creationId xmlns:p14="http://schemas.microsoft.com/office/powerpoint/2010/main" val="2290332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7BD00-89BE-E5D6-AF6B-02FAA0D830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7071CF-3965-158A-856F-C4C314D288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0DA09B-E651-2CCB-329B-E00026876DF3}"/>
              </a:ext>
            </a:extLst>
          </p:cNvPr>
          <p:cNvSpPr>
            <a:spLocks noGrp="1"/>
          </p:cNvSpPr>
          <p:nvPr>
            <p:ph type="dt" sz="half" idx="10"/>
          </p:nvPr>
        </p:nvSpPr>
        <p:spPr/>
        <p:txBody>
          <a:bodyPr/>
          <a:lstStyle/>
          <a:p>
            <a:fld id="{5F90B282-46E2-8946-993E-B20C3B4ADCF3}" type="datetimeFigureOut">
              <a:rPr lang="en-US" smtClean="0"/>
              <a:t>8/21/2026</a:t>
            </a:fld>
            <a:endParaRPr lang="en-US"/>
          </a:p>
        </p:txBody>
      </p:sp>
      <p:sp>
        <p:nvSpPr>
          <p:cNvPr id="5" name="Footer Placeholder 4">
            <a:extLst>
              <a:ext uri="{FF2B5EF4-FFF2-40B4-BE49-F238E27FC236}">
                <a16:creationId xmlns:a16="http://schemas.microsoft.com/office/drawing/2014/main" id="{6DE63B29-3945-C7A8-3F3F-921CE5AF69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54C6E-5255-1648-A799-51401A20C7CF}"/>
              </a:ext>
            </a:extLst>
          </p:cNvPr>
          <p:cNvSpPr>
            <a:spLocks noGrp="1"/>
          </p:cNvSpPr>
          <p:nvPr>
            <p:ph type="sldNum" sz="quarter" idx="12"/>
          </p:nvPr>
        </p:nvSpPr>
        <p:spPr/>
        <p:txBody>
          <a:bodyPr/>
          <a:lstStyle/>
          <a:p>
            <a:fld id="{E9EE2200-DDDF-A34F-AC35-926DC27C2334}" type="slidenum">
              <a:rPr lang="en-US" smtClean="0"/>
              <a:t>‹#›</a:t>
            </a:fld>
            <a:endParaRPr lang="en-US"/>
          </a:p>
        </p:txBody>
      </p:sp>
    </p:spTree>
    <p:extLst>
      <p:ext uri="{BB962C8B-B14F-4D97-AF65-F5344CB8AC3E}">
        <p14:creationId xmlns:p14="http://schemas.microsoft.com/office/powerpoint/2010/main" val="267706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29857B-6CE4-DC74-6AA3-D39B03A22F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9A6D42-B2C4-F0A4-2157-C3983AE8C4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AF41F2-2030-02D6-BBBF-014BA4E99B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90B282-46E2-8946-993E-B20C3B4ADCF3}" type="datetimeFigureOut">
              <a:rPr lang="en-US" smtClean="0"/>
              <a:t>8/21/2026</a:t>
            </a:fld>
            <a:endParaRPr lang="en-US"/>
          </a:p>
        </p:txBody>
      </p:sp>
      <p:sp>
        <p:nvSpPr>
          <p:cNvPr id="5" name="Footer Placeholder 4">
            <a:extLst>
              <a:ext uri="{FF2B5EF4-FFF2-40B4-BE49-F238E27FC236}">
                <a16:creationId xmlns:a16="http://schemas.microsoft.com/office/drawing/2014/main" id="{2F29FB8C-CA12-C018-0A59-D6BEEA8F31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357F966-3C99-B7A2-E581-A985BCB7B2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EE2200-DDDF-A34F-AC35-926DC27C2334}" type="slidenum">
              <a:rPr lang="en-US" smtClean="0"/>
              <a:t>‹#›</a:t>
            </a:fld>
            <a:endParaRPr lang="en-US"/>
          </a:p>
        </p:txBody>
      </p:sp>
    </p:spTree>
    <p:extLst>
      <p:ext uri="{BB962C8B-B14F-4D97-AF65-F5344CB8AC3E}">
        <p14:creationId xmlns:p14="http://schemas.microsoft.com/office/powerpoint/2010/main" val="33788879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4.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09383-4F4F-AB73-2321-AAE70964A391}"/>
              </a:ext>
            </a:extLst>
          </p:cNvPr>
          <p:cNvSpPr>
            <a:spLocks noGrp="1"/>
          </p:cNvSpPr>
          <p:nvPr>
            <p:ph type="ctrTitle"/>
          </p:nvPr>
        </p:nvSpPr>
        <p:spPr>
          <a:xfrm>
            <a:off x="6425505" y="1633275"/>
            <a:ext cx="4589859" cy="2220536"/>
          </a:xfrm>
        </p:spPr>
        <p:txBody>
          <a:bodyPr/>
          <a:lstStyle/>
          <a:p>
            <a:r>
              <a:rPr lang="en-US" b="1" dirty="0">
                <a:latin typeface="Britannic Bold" panose="020B0903060703020204" pitchFamily="34" charset="0"/>
              </a:rPr>
              <a:t>Sapphire</a:t>
            </a:r>
            <a:r>
              <a:rPr lang="en-US" dirty="0"/>
              <a:t> </a:t>
            </a:r>
          </a:p>
        </p:txBody>
      </p:sp>
      <p:sp>
        <p:nvSpPr>
          <p:cNvPr id="3" name="Subtitle 2">
            <a:extLst>
              <a:ext uri="{FF2B5EF4-FFF2-40B4-BE49-F238E27FC236}">
                <a16:creationId xmlns:a16="http://schemas.microsoft.com/office/drawing/2014/main" id="{D9FDF79E-5BCB-8A99-38DE-3CBF9924A5D9}"/>
              </a:ext>
            </a:extLst>
          </p:cNvPr>
          <p:cNvSpPr>
            <a:spLocks noGrp="1"/>
          </p:cNvSpPr>
          <p:nvPr>
            <p:ph type="subTitle" idx="1"/>
          </p:nvPr>
        </p:nvSpPr>
        <p:spPr>
          <a:xfrm>
            <a:off x="5304234" y="4017222"/>
            <a:ext cx="6887766" cy="686988"/>
          </a:xfrm>
        </p:spPr>
        <p:txBody>
          <a:bodyPr/>
          <a:lstStyle/>
          <a:p>
            <a:r>
              <a:rPr lang="en-US" b="1" dirty="0">
                <a:latin typeface="Britannic Bold" panose="020B0903060703020204" pitchFamily="34" charset="0"/>
              </a:rPr>
              <a:t>Social media content planning </a:t>
            </a:r>
          </a:p>
        </p:txBody>
      </p:sp>
      <p:sp>
        <p:nvSpPr>
          <p:cNvPr id="4" name="TextBox 3">
            <a:extLst>
              <a:ext uri="{FF2B5EF4-FFF2-40B4-BE49-F238E27FC236}">
                <a16:creationId xmlns:a16="http://schemas.microsoft.com/office/drawing/2014/main" id="{D85E80BC-DC4D-9820-B09D-F9CC40F27B77}"/>
              </a:ext>
            </a:extLst>
          </p:cNvPr>
          <p:cNvSpPr txBox="1"/>
          <p:nvPr/>
        </p:nvSpPr>
        <p:spPr>
          <a:xfrm>
            <a:off x="9345810" y="5977889"/>
            <a:ext cx="2084190" cy="369332"/>
          </a:xfrm>
          <a:prstGeom prst="rect">
            <a:avLst/>
          </a:prstGeom>
          <a:noFill/>
        </p:spPr>
        <p:txBody>
          <a:bodyPr wrap="square" rtlCol="0">
            <a:spAutoFit/>
          </a:bodyPr>
          <a:lstStyle/>
          <a:p>
            <a:pPr algn="l"/>
            <a:r>
              <a:rPr lang="en-US" b="1" dirty="0" err="1"/>
              <a:t>Shafaq</a:t>
            </a:r>
            <a:r>
              <a:rPr lang="en-US" b="1" dirty="0"/>
              <a:t> Zaman</a:t>
            </a:r>
          </a:p>
        </p:txBody>
      </p:sp>
      <p:pic>
        <p:nvPicPr>
          <p:cNvPr id="5" name="Picture 4">
            <a:extLst>
              <a:ext uri="{FF2B5EF4-FFF2-40B4-BE49-F238E27FC236}">
                <a16:creationId xmlns:a16="http://schemas.microsoft.com/office/drawing/2014/main" id="{6E972C6C-CF00-DBC8-3AB4-A22AD7C168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727" y="986894"/>
            <a:ext cx="5027242" cy="5298037"/>
          </a:xfrm>
          <a:prstGeom prst="rect">
            <a:avLst/>
          </a:prstGeom>
        </p:spPr>
      </p:pic>
      <p:sp>
        <p:nvSpPr>
          <p:cNvPr id="6" name="TextBox 5">
            <a:extLst>
              <a:ext uri="{FF2B5EF4-FFF2-40B4-BE49-F238E27FC236}">
                <a16:creationId xmlns:a16="http://schemas.microsoft.com/office/drawing/2014/main" id="{F318C205-7E0E-4299-9E6C-B0F68931DD2F}"/>
              </a:ext>
            </a:extLst>
          </p:cNvPr>
          <p:cNvSpPr txBox="1"/>
          <p:nvPr/>
        </p:nvSpPr>
        <p:spPr>
          <a:xfrm>
            <a:off x="6425505" y="2281878"/>
            <a:ext cx="6096000" cy="461665"/>
          </a:xfrm>
          <a:prstGeom prst="rect">
            <a:avLst/>
          </a:prstGeom>
          <a:noFill/>
        </p:spPr>
        <p:txBody>
          <a:bodyPr wrap="square" rtlCol="0">
            <a:spAutoFit/>
          </a:bodyPr>
          <a:lstStyle/>
          <a:p>
            <a:pPr algn="l"/>
            <a:r>
              <a:rPr lang="en-US" sz="2400" b="1" dirty="0">
                <a:latin typeface="Aptos Display" panose="020B0004020202020204" pitchFamily="34" charset="0"/>
              </a:rPr>
              <a:t>DIGITAL MARKETING PROJECT 01</a:t>
            </a:r>
          </a:p>
        </p:txBody>
      </p:sp>
      <p:sp>
        <p:nvSpPr>
          <p:cNvPr id="7" name="TextBox 6">
            <a:extLst>
              <a:ext uri="{FF2B5EF4-FFF2-40B4-BE49-F238E27FC236}">
                <a16:creationId xmlns:a16="http://schemas.microsoft.com/office/drawing/2014/main" id="{8C338B5E-F16F-EE6E-1CA3-128E7CD8BF91}"/>
              </a:ext>
            </a:extLst>
          </p:cNvPr>
          <p:cNvSpPr txBox="1"/>
          <p:nvPr/>
        </p:nvSpPr>
        <p:spPr>
          <a:xfrm>
            <a:off x="9473505" y="5725701"/>
            <a:ext cx="1828800" cy="369332"/>
          </a:xfrm>
          <a:prstGeom prst="rect">
            <a:avLst/>
          </a:prstGeom>
          <a:noFill/>
        </p:spPr>
        <p:txBody>
          <a:bodyPr wrap="square" rtlCol="0">
            <a:spAutoFit/>
          </a:bodyPr>
          <a:lstStyle/>
          <a:p>
            <a:pPr algn="l"/>
            <a:r>
              <a:rPr lang="en-US" dirty="0" err="1"/>
              <a:t>Decodelabs</a:t>
            </a:r>
            <a:endParaRPr lang="en-US" dirty="0"/>
          </a:p>
        </p:txBody>
      </p:sp>
    </p:spTree>
    <p:extLst>
      <p:ext uri="{BB962C8B-B14F-4D97-AF65-F5344CB8AC3E}">
        <p14:creationId xmlns:p14="http://schemas.microsoft.com/office/powerpoint/2010/main" val="3494641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5488F-743A-6866-2519-E971923BECB7}"/>
              </a:ext>
            </a:extLst>
          </p:cNvPr>
          <p:cNvSpPr>
            <a:spLocks noGrp="1"/>
          </p:cNvSpPr>
          <p:nvPr>
            <p:ph type="title"/>
          </p:nvPr>
        </p:nvSpPr>
        <p:spPr>
          <a:xfrm>
            <a:off x="838200" y="607219"/>
            <a:ext cx="10515600" cy="1083469"/>
          </a:xfrm>
          <a:solidFill>
            <a:schemeClr val="accent5">
              <a:lumMod val="40000"/>
              <a:lumOff val="60000"/>
            </a:schemeClr>
          </a:solidFill>
        </p:spPr>
        <p:txBody>
          <a:bodyPr/>
          <a:lstStyle/>
          <a:p>
            <a:r>
              <a:rPr lang="en-US" b="1" dirty="0"/>
              <a:t>About Sapphire </a:t>
            </a:r>
          </a:p>
        </p:txBody>
      </p:sp>
      <p:sp>
        <p:nvSpPr>
          <p:cNvPr id="3" name="Content Placeholder 2">
            <a:extLst>
              <a:ext uri="{FF2B5EF4-FFF2-40B4-BE49-F238E27FC236}">
                <a16:creationId xmlns:a16="http://schemas.microsoft.com/office/drawing/2014/main" id="{27C5CCD6-32B8-01E0-44CD-DEEA7928B53F}"/>
              </a:ext>
            </a:extLst>
          </p:cNvPr>
          <p:cNvSpPr>
            <a:spLocks noGrp="1"/>
          </p:cNvSpPr>
          <p:nvPr>
            <p:ph idx="1"/>
          </p:nvPr>
        </p:nvSpPr>
        <p:spPr>
          <a:xfrm>
            <a:off x="838200" y="2141537"/>
            <a:ext cx="10515600" cy="4351338"/>
          </a:xfrm>
        </p:spPr>
        <p:txBody>
          <a:bodyPr/>
          <a:lstStyle/>
          <a:p>
            <a:r>
              <a:rPr lang="en-US" dirty="0">
                <a:latin typeface="Arial" panose="020B0604020202020204" pitchFamily="34" charset="0"/>
                <a:cs typeface="Arial" panose="020B0604020202020204" pitchFamily="34" charset="0"/>
              </a:rPr>
              <a:t>Sapphire is a prominent Pakistani fashion and lifestyle brand known for combining contemporary design with accessible fashion. The brand offers a diverse range of apparel and lifestyle products designed to reflect modern Pakistani aesthetics.
Sapphire’s digital presence provides an opportunity to connect fashion-conscious audiences with new collections, seasonal trends, styling inspiration, and brand experiences through visually engaging social media content</a:t>
            </a:r>
            <a:r>
              <a:rPr lang="en-US" dirty="0"/>
              <a:t>.</a:t>
            </a:r>
          </a:p>
        </p:txBody>
      </p:sp>
    </p:spTree>
    <p:extLst>
      <p:ext uri="{BB962C8B-B14F-4D97-AF65-F5344CB8AC3E}">
        <p14:creationId xmlns:p14="http://schemas.microsoft.com/office/powerpoint/2010/main" val="197059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F5527-F6CE-D971-9469-BD0353BE02B9}"/>
              </a:ext>
            </a:extLst>
          </p:cNvPr>
          <p:cNvSpPr>
            <a:spLocks noGrp="1"/>
          </p:cNvSpPr>
          <p:nvPr>
            <p:ph type="title"/>
          </p:nvPr>
        </p:nvSpPr>
        <p:spPr>
          <a:xfrm>
            <a:off x="838200" y="681037"/>
            <a:ext cx="10877550" cy="837011"/>
          </a:xfrm>
          <a:solidFill>
            <a:schemeClr val="accent5">
              <a:lumMod val="40000"/>
              <a:lumOff val="60000"/>
            </a:schemeClr>
          </a:solidFill>
        </p:spPr>
        <p:txBody>
          <a:bodyPr vert="horz" lIns="91440" tIns="45720" rIns="91440" bIns="45720" rtlCol="0" anchor="ctr">
            <a:normAutofit/>
          </a:bodyPr>
          <a:lstStyle/>
          <a:p>
            <a:r>
              <a:rPr lang="en-US" b="1" dirty="0"/>
              <a:t>Primary Objective </a:t>
            </a:r>
          </a:p>
        </p:txBody>
      </p:sp>
      <p:sp>
        <p:nvSpPr>
          <p:cNvPr id="3" name="Content Placeholder 2">
            <a:extLst>
              <a:ext uri="{FF2B5EF4-FFF2-40B4-BE49-F238E27FC236}">
                <a16:creationId xmlns:a16="http://schemas.microsoft.com/office/drawing/2014/main" id="{C16A4534-18B2-4637-8583-4E33233D2261}"/>
              </a:ext>
            </a:extLst>
          </p:cNvPr>
          <p:cNvSpPr>
            <a:spLocks noGrp="1"/>
          </p:cNvSpPr>
          <p:nvPr>
            <p:ph idx="1"/>
          </p:nvPr>
        </p:nvSpPr>
        <p:spPr>
          <a:solidFill>
            <a:schemeClr val="bg1"/>
          </a:solidFill>
        </p:spPr>
        <p:txBody>
          <a:bodyPr>
            <a:normAutofit fontScale="92500" lnSpcReduction="10000"/>
          </a:bodyPr>
          <a:lstStyle/>
          <a:p>
            <a:pPr marL="0" indent="0">
              <a:buNone/>
            </a:pPr>
            <a:r>
              <a:rPr lang="en-US" dirty="0">
                <a:latin typeface="Arial" panose="020B0604020202020204" pitchFamily="34" charset="0"/>
                <a:cs typeface="Arial" panose="020B0604020202020204" pitchFamily="34" charset="0"/>
              </a:rPr>
              <a:t> The primary objective of this social media content plan is to develop a structured and audience-focused digital content strategy for Sapphire.</a:t>
            </a:r>
          </a:p>
          <a:p>
            <a:pPr marL="0" indent="0">
              <a:buNone/>
            </a:pPr>
            <a:r>
              <a:rPr lang="en-US" dirty="0">
                <a:latin typeface="Bahnschrift Light Condensed" panose="020B0502040204020203" pitchFamily="34" charset="0"/>
              </a:rPr>
              <a:t>
</a:t>
            </a:r>
            <a:r>
              <a:rPr lang="en-US" b="1" u="sng" dirty="0">
                <a:solidFill>
                  <a:schemeClr val="accent5">
                    <a:lumMod val="40000"/>
                    <a:lumOff val="60000"/>
                  </a:schemeClr>
                </a:solidFill>
                <a:latin typeface="Arial" panose="020B0604020202020204" pitchFamily="34" charset="0"/>
                <a:cs typeface="Arial" panose="020B0604020202020204" pitchFamily="34" charset="0"/>
              </a:rPr>
              <a:t>The strategy aims to:</a:t>
            </a:r>
            <a:r>
              <a:rPr lang="en-US" dirty="0">
                <a:latin typeface="Arial" panose="020B0604020202020204" pitchFamily="34" charset="0"/>
                <a:cs typeface="Arial" panose="020B0604020202020204" pitchFamily="34" charset="0"/>
              </a:rPr>
              <a:t>
Identify and understand Sapphire’s core target audience.
Develop relevant and engaging social media content ideas.
Establish clear content pillars for consistent communication.
Create a structured 7-day posting schedule.
Encourage audience interaction through effective CTAs.
Strengthen brand awareness and digital engagement.</a:t>
            </a:r>
          </a:p>
        </p:txBody>
      </p:sp>
    </p:spTree>
    <p:extLst>
      <p:ext uri="{BB962C8B-B14F-4D97-AF65-F5344CB8AC3E}">
        <p14:creationId xmlns:p14="http://schemas.microsoft.com/office/powerpoint/2010/main" val="1431725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C15F8-D918-3338-A5B9-5DB5451D867D}"/>
              </a:ext>
            </a:extLst>
          </p:cNvPr>
          <p:cNvSpPr>
            <a:spLocks noGrp="1"/>
          </p:cNvSpPr>
          <p:nvPr>
            <p:ph type="title"/>
          </p:nvPr>
        </p:nvSpPr>
        <p:spPr>
          <a:xfrm>
            <a:off x="3497461" y="309959"/>
            <a:ext cx="5021461" cy="886619"/>
          </a:xfrm>
          <a:solidFill>
            <a:schemeClr val="accent5">
              <a:lumMod val="40000"/>
              <a:lumOff val="60000"/>
            </a:schemeClr>
          </a:solidFill>
        </p:spPr>
        <p:txBody>
          <a:bodyPr>
            <a:normAutofit/>
          </a:bodyPr>
          <a:lstStyle/>
          <a:p>
            <a:r>
              <a:rPr lang="en-US" b="1" dirty="0"/>
              <a:t>TARGET AUDIENCE </a:t>
            </a:r>
          </a:p>
        </p:txBody>
      </p:sp>
      <p:sp>
        <p:nvSpPr>
          <p:cNvPr id="3" name="Content Placeholder 2">
            <a:extLst>
              <a:ext uri="{FF2B5EF4-FFF2-40B4-BE49-F238E27FC236}">
                <a16:creationId xmlns:a16="http://schemas.microsoft.com/office/drawing/2014/main" id="{5D5419E1-6D63-49E4-4B28-36A92E4F1494}"/>
              </a:ext>
            </a:extLst>
          </p:cNvPr>
          <p:cNvSpPr>
            <a:spLocks noGrp="1"/>
          </p:cNvSpPr>
          <p:nvPr>
            <p:ph sz="half" idx="1"/>
          </p:nvPr>
        </p:nvSpPr>
        <p:spPr>
          <a:xfrm>
            <a:off x="838200" y="3143248"/>
            <a:ext cx="5181600" cy="3033713"/>
          </a:xfrm>
        </p:spPr>
        <p:txBody>
          <a:bodyPr>
            <a:normAutofit fontScale="70000" lnSpcReduction="20000"/>
          </a:bodyPr>
          <a:lstStyle/>
          <a:p>
            <a:r>
              <a:rPr lang="en-US" b="1" dirty="0">
                <a:solidFill>
                  <a:schemeClr val="accent5">
                    <a:lumMod val="40000"/>
                    <a:lumOff val="60000"/>
                  </a:schemeClr>
                </a:solidFill>
              </a:rPr>
              <a:t>  </a:t>
            </a:r>
            <a:r>
              <a:rPr lang="en-US" b="1" u="sng" dirty="0">
                <a:solidFill>
                  <a:schemeClr val="accent5">
                    <a:lumMod val="40000"/>
                    <a:lumOff val="60000"/>
                  </a:schemeClr>
                </a:solidFill>
                <a:latin typeface="Arial" panose="020B0604020202020204" pitchFamily="34" charset="0"/>
                <a:cs typeface="Arial" panose="020B0604020202020204" pitchFamily="34" charset="0"/>
              </a:rPr>
              <a:t>Primary Audience</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Age</a:t>
            </a:r>
            <a:r>
              <a:rPr lang="en-US" dirty="0">
                <a:latin typeface="Arial" panose="020B0604020202020204" pitchFamily="34" charset="0"/>
                <a:cs typeface="Arial" panose="020B0604020202020204" pitchFamily="34" charset="0"/>
              </a:rPr>
              <a:t>: 18–35 years
</a:t>
            </a:r>
            <a:r>
              <a:rPr lang="en-US" b="1" dirty="0">
                <a:latin typeface="Arial" panose="020B0604020202020204" pitchFamily="34" charset="0"/>
                <a:cs typeface="Arial" panose="020B0604020202020204" pitchFamily="34" charset="0"/>
              </a:rPr>
              <a:t>Gender</a:t>
            </a:r>
            <a:r>
              <a:rPr lang="en-US" dirty="0">
                <a:latin typeface="Arial" panose="020B0604020202020204" pitchFamily="34" charset="0"/>
                <a:cs typeface="Arial" panose="020B0604020202020204" pitchFamily="34" charset="0"/>
              </a:rPr>
              <a:t>: Primarily female
</a:t>
            </a:r>
            <a:r>
              <a:rPr lang="en-US" b="1" dirty="0">
                <a:latin typeface="Arial" panose="020B0604020202020204" pitchFamily="34" charset="0"/>
                <a:cs typeface="Arial" panose="020B0604020202020204" pitchFamily="34" charset="0"/>
              </a:rPr>
              <a:t>Location</a:t>
            </a:r>
            <a:r>
              <a:rPr lang="en-US" dirty="0">
                <a:latin typeface="Arial" panose="020B0604020202020204" pitchFamily="34" charset="0"/>
                <a:cs typeface="Arial" panose="020B0604020202020204" pitchFamily="34" charset="0"/>
              </a:rPr>
              <a:t>: Major urban areas of Pakistan
</a:t>
            </a:r>
            <a:r>
              <a:rPr lang="en-US" b="1" dirty="0">
                <a:latin typeface="Arial" panose="020B0604020202020204" pitchFamily="34" charset="0"/>
                <a:cs typeface="Arial" panose="020B0604020202020204" pitchFamily="34" charset="0"/>
              </a:rPr>
              <a:t>Lifestyle</a:t>
            </a:r>
            <a:r>
              <a:rPr lang="en-US" dirty="0">
                <a:latin typeface="Arial" panose="020B0604020202020204" pitchFamily="34" charset="0"/>
                <a:cs typeface="Arial" panose="020B0604020202020204" pitchFamily="34" charset="0"/>
              </a:rPr>
              <a:t>: Students, young professionals, fashion enthusiasts
</a:t>
            </a:r>
            <a:r>
              <a:rPr lang="en-US" b="1" dirty="0">
                <a:latin typeface="Arial" panose="020B0604020202020204" pitchFamily="34" charset="0"/>
                <a:cs typeface="Arial" panose="020B0604020202020204" pitchFamily="34" charset="0"/>
              </a:rPr>
              <a:t>Income</a:t>
            </a:r>
            <a:r>
              <a:rPr lang="en-US" dirty="0">
                <a:latin typeface="Arial" panose="020B0604020202020204" pitchFamily="34" charset="0"/>
                <a:cs typeface="Arial" panose="020B0604020202020204" pitchFamily="34" charset="0"/>
              </a:rPr>
              <a:t>: Middle to upper-middle income consumers
</a:t>
            </a:r>
            <a:r>
              <a:rPr lang="en-US" b="1" dirty="0">
                <a:latin typeface="Arial" panose="020B0604020202020204" pitchFamily="34" charset="0"/>
                <a:cs typeface="Arial" panose="020B0604020202020204" pitchFamily="34" charset="0"/>
              </a:rPr>
              <a:t>Digital Behavior</a:t>
            </a:r>
            <a:r>
              <a:rPr lang="en-US" dirty="0">
                <a:latin typeface="Arial" panose="020B0604020202020204" pitchFamily="34" charset="0"/>
                <a:cs typeface="Arial" panose="020B0604020202020204" pitchFamily="34" charset="0"/>
              </a:rPr>
              <a:t>: Highly active on Instagram and Facebook</a:t>
            </a:r>
          </a:p>
        </p:txBody>
      </p:sp>
      <p:sp>
        <p:nvSpPr>
          <p:cNvPr id="4" name="Content Placeholder 3">
            <a:extLst>
              <a:ext uri="{FF2B5EF4-FFF2-40B4-BE49-F238E27FC236}">
                <a16:creationId xmlns:a16="http://schemas.microsoft.com/office/drawing/2014/main" id="{A8ECC65F-D9C4-EC03-D86E-78C5D93499F3}"/>
              </a:ext>
            </a:extLst>
          </p:cNvPr>
          <p:cNvSpPr>
            <a:spLocks noGrp="1"/>
          </p:cNvSpPr>
          <p:nvPr>
            <p:ph sz="half" idx="2"/>
          </p:nvPr>
        </p:nvSpPr>
        <p:spPr>
          <a:xfrm>
            <a:off x="6172200" y="3143248"/>
            <a:ext cx="5181600" cy="3033713"/>
          </a:xfrm>
        </p:spPr>
        <p:txBody>
          <a:bodyPr>
            <a:normAutofit fontScale="70000" lnSpcReduction="20000"/>
          </a:bodyPr>
          <a:lstStyle/>
          <a:p>
            <a:r>
              <a:rPr lang="en-US" b="1" dirty="0">
                <a:solidFill>
                  <a:schemeClr val="accent5">
                    <a:lumMod val="40000"/>
                    <a:lumOff val="60000"/>
                  </a:schemeClr>
                </a:solidFill>
                <a:latin typeface="Arial" panose="020B0604020202020204" pitchFamily="34" charset="0"/>
                <a:cs typeface="Arial" panose="020B0604020202020204" pitchFamily="34" charset="0"/>
              </a:rPr>
              <a:t>Audience Mindset</a:t>
            </a:r>
            <a:r>
              <a:rPr lang="en-US" dirty="0">
                <a:latin typeface="Arial" panose="020B0604020202020204" pitchFamily="34" charset="0"/>
                <a:cs typeface="Arial" panose="020B0604020202020204" pitchFamily="34" charset="0"/>
              </a:rPr>
              <a:t>
They value:
Contemporary fashion
Quality and design
Styling inspiration
Seasonal collections
Brand aesthetics
Convenience and online shopping</a:t>
            </a:r>
          </a:p>
        </p:txBody>
      </p:sp>
      <p:sp>
        <p:nvSpPr>
          <p:cNvPr id="5" name="TextBox 4">
            <a:extLst>
              <a:ext uri="{FF2B5EF4-FFF2-40B4-BE49-F238E27FC236}">
                <a16:creationId xmlns:a16="http://schemas.microsoft.com/office/drawing/2014/main" id="{8BEBB016-0CBD-67F2-11AB-443F96CE057F}"/>
              </a:ext>
            </a:extLst>
          </p:cNvPr>
          <p:cNvSpPr txBox="1"/>
          <p:nvPr/>
        </p:nvSpPr>
        <p:spPr>
          <a:xfrm>
            <a:off x="838200" y="1347562"/>
            <a:ext cx="8410800" cy="1569660"/>
          </a:xfrm>
          <a:prstGeom prst="rect">
            <a:avLst/>
          </a:prstGeom>
          <a:noFill/>
        </p:spPr>
        <p:txBody>
          <a:bodyPr wrap="square" rtlCol="0">
            <a:spAutoFit/>
          </a:bodyPr>
          <a:lstStyle/>
          <a:p>
            <a:pPr algn="l"/>
            <a:r>
              <a:rPr lang="en-US" sz="2400" dirty="0">
                <a:latin typeface="Arial" panose="020B0604020202020204" pitchFamily="34" charset="0"/>
                <a:cs typeface="Arial" panose="020B0604020202020204" pitchFamily="34" charset="0"/>
              </a:rPr>
              <a:t>Sapphire’s social media communication should primarily target young, fashion-conscious consumers who actively explore fashion trends and use digital platforms for inspiration and shopping decisions.</a:t>
            </a:r>
          </a:p>
        </p:txBody>
      </p:sp>
      <p:pic>
        <p:nvPicPr>
          <p:cNvPr id="6" name="Picture 5">
            <a:extLst>
              <a:ext uri="{FF2B5EF4-FFF2-40B4-BE49-F238E27FC236}">
                <a16:creationId xmlns:a16="http://schemas.microsoft.com/office/drawing/2014/main" id="{14B23081-89AC-674B-53A8-955D76CD08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49000" y="793061"/>
            <a:ext cx="2435864" cy="1754830"/>
          </a:xfrm>
          <a:prstGeom prst="rect">
            <a:avLst/>
          </a:prstGeom>
        </p:spPr>
      </p:pic>
    </p:spTree>
    <p:extLst>
      <p:ext uri="{BB962C8B-B14F-4D97-AF65-F5344CB8AC3E}">
        <p14:creationId xmlns:p14="http://schemas.microsoft.com/office/powerpoint/2010/main" val="4089934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BAE80-51BF-0B6E-994E-EB558FEE62CC}"/>
              </a:ext>
            </a:extLst>
          </p:cNvPr>
          <p:cNvSpPr>
            <a:spLocks noGrp="1"/>
          </p:cNvSpPr>
          <p:nvPr>
            <p:ph type="title"/>
          </p:nvPr>
        </p:nvSpPr>
        <p:spPr>
          <a:xfrm>
            <a:off x="838200" y="365125"/>
            <a:ext cx="10515600" cy="1460500"/>
          </a:xfrm>
          <a:solidFill>
            <a:schemeClr val="accent5">
              <a:lumMod val="40000"/>
              <a:lumOff val="60000"/>
            </a:schemeClr>
          </a:solidFill>
        </p:spPr>
        <p:txBody>
          <a:bodyPr/>
          <a:lstStyle/>
          <a:p>
            <a:r>
              <a:rPr lang="en-US" b="1" dirty="0"/>
              <a:t>AUDIENCE INTERESTS &amp; ONLINE BEHAVIOR</a:t>
            </a:r>
          </a:p>
        </p:txBody>
      </p:sp>
      <p:sp>
        <p:nvSpPr>
          <p:cNvPr id="3" name="Content Placeholder 2">
            <a:extLst>
              <a:ext uri="{FF2B5EF4-FFF2-40B4-BE49-F238E27FC236}">
                <a16:creationId xmlns:a16="http://schemas.microsoft.com/office/drawing/2014/main" id="{D81E490B-DBEA-6B4D-C992-F44D85F21E3E}"/>
              </a:ext>
            </a:extLst>
          </p:cNvPr>
          <p:cNvSpPr>
            <a:spLocks noGrp="1"/>
          </p:cNvSpPr>
          <p:nvPr>
            <p:ph idx="1"/>
          </p:nvPr>
        </p:nvSpPr>
        <p:spPr>
          <a:xfrm>
            <a:off x="838200" y="1982391"/>
            <a:ext cx="10515600" cy="4194571"/>
          </a:xfrm>
        </p:spPr>
        <p:txBody>
          <a:bodyPr>
            <a:normAutofit/>
          </a:bodyPr>
          <a:lstStyle/>
          <a:p>
            <a:pPr marL="0" indent="0">
              <a:buNone/>
            </a:pPr>
            <a:r>
              <a:rPr lang="en-US" dirty="0">
                <a:latin typeface="Arial" panose="020B0604020202020204" pitchFamily="34" charset="0"/>
                <a:ea typeface="+mj-ea"/>
                <a:cs typeface="Arial" panose="020B0604020202020204" pitchFamily="34" charset="0"/>
              </a:rPr>
              <a:t>Sapphire’s target audience is highly visual and digitally engaged. Their purchase decisions can be influenced by how products are presented, styled, reviewed, and positioned online.</a:t>
            </a:r>
          </a:p>
        </p:txBody>
      </p:sp>
      <p:sp>
        <p:nvSpPr>
          <p:cNvPr id="5" name="TextBox 4">
            <a:extLst>
              <a:ext uri="{FF2B5EF4-FFF2-40B4-BE49-F238E27FC236}">
                <a16:creationId xmlns:a16="http://schemas.microsoft.com/office/drawing/2014/main" id="{1B3AA4A6-59FC-062E-22B5-28C3BD9E655F}"/>
              </a:ext>
            </a:extLst>
          </p:cNvPr>
          <p:cNvSpPr txBox="1"/>
          <p:nvPr/>
        </p:nvSpPr>
        <p:spPr>
          <a:xfrm>
            <a:off x="838200" y="3246835"/>
            <a:ext cx="7018735" cy="3416320"/>
          </a:xfrm>
          <a:prstGeom prst="rect">
            <a:avLst/>
          </a:prstGeom>
          <a:noFill/>
        </p:spPr>
        <p:txBody>
          <a:bodyPr wrap="square" rtlCol="0">
            <a:spAutoFit/>
          </a:bodyPr>
          <a:lstStyle/>
          <a:p>
            <a:pPr algn="l"/>
            <a:r>
              <a:rPr lang="en-US" sz="2400" b="1" dirty="0">
                <a:solidFill>
                  <a:schemeClr val="accent5">
                    <a:lumMod val="40000"/>
                    <a:lumOff val="60000"/>
                  </a:schemeClr>
                </a:solidFill>
                <a:latin typeface="Bahnschrift Light Condensed" panose="020B0502040204020203" pitchFamily="34" charset="0"/>
              </a:rPr>
              <a:t>Key Interests</a:t>
            </a:r>
            <a:r>
              <a:rPr lang="en-US" sz="2400" dirty="0">
                <a:latin typeface="Bahnschrift Light Condensed" panose="020B0502040204020203" pitchFamily="34" charset="0"/>
              </a:rPr>
              <a:t>
</a:t>
            </a:r>
            <a:r>
              <a:rPr lang="en-US" sz="2400" dirty="0">
                <a:latin typeface="Arial" panose="020B0604020202020204" pitchFamily="34" charset="0"/>
                <a:cs typeface="Arial" panose="020B0604020202020204" pitchFamily="34" charset="0"/>
              </a:rPr>
              <a:t>Fashion trends
New collections
Seasonal outfits
Styling ideas
Festive fashion
Beauty and lifestyle
Fashion inspiration
Influencer content</a:t>
            </a:r>
          </a:p>
        </p:txBody>
      </p:sp>
      <p:sp>
        <p:nvSpPr>
          <p:cNvPr id="6" name="TextBox 5">
            <a:extLst>
              <a:ext uri="{FF2B5EF4-FFF2-40B4-BE49-F238E27FC236}">
                <a16:creationId xmlns:a16="http://schemas.microsoft.com/office/drawing/2014/main" id="{32F7F3AA-E9F3-71EF-B9C1-4A71B1E26799}"/>
              </a:ext>
            </a:extLst>
          </p:cNvPr>
          <p:cNvSpPr txBox="1"/>
          <p:nvPr/>
        </p:nvSpPr>
        <p:spPr>
          <a:xfrm>
            <a:off x="4801378" y="4760178"/>
            <a:ext cx="6552422" cy="1200329"/>
          </a:xfrm>
          <a:prstGeom prst="rect">
            <a:avLst/>
          </a:prstGeom>
          <a:solidFill>
            <a:schemeClr val="accent5">
              <a:lumMod val="40000"/>
              <a:lumOff val="60000"/>
            </a:schemeClr>
          </a:solidFill>
        </p:spPr>
        <p:txBody>
          <a:bodyPr wrap="square" rtlCol="0">
            <a:spAutoFit/>
          </a:bodyPr>
          <a:lstStyle/>
          <a:p>
            <a:pPr algn="l"/>
            <a:r>
              <a:rPr lang="en-US" b="1" dirty="0">
                <a:latin typeface="Arial" panose="020B0604020202020204" pitchFamily="34" charset="0"/>
                <a:cs typeface="Arial" panose="020B0604020202020204" pitchFamily="34" charset="0"/>
              </a:rPr>
              <a:t>Digital Behavior
Discover → Explore → Engage → Evaluate → Purchase
The content strategy should therefore provide value at every stage of the consumer journey.</a:t>
            </a:r>
          </a:p>
        </p:txBody>
      </p:sp>
    </p:spTree>
    <p:extLst>
      <p:ext uri="{BB962C8B-B14F-4D97-AF65-F5344CB8AC3E}">
        <p14:creationId xmlns:p14="http://schemas.microsoft.com/office/powerpoint/2010/main" val="1111995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88FE0-2318-CA14-94FB-11A39777543F}"/>
              </a:ext>
            </a:extLst>
          </p:cNvPr>
          <p:cNvSpPr>
            <a:spLocks noGrp="1"/>
          </p:cNvSpPr>
          <p:nvPr>
            <p:ph type="title"/>
          </p:nvPr>
        </p:nvSpPr>
        <p:spPr>
          <a:solidFill>
            <a:schemeClr val="accent5">
              <a:lumMod val="40000"/>
              <a:lumOff val="60000"/>
            </a:schemeClr>
          </a:solidFill>
        </p:spPr>
        <p:txBody>
          <a:bodyPr/>
          <a:lstStyle/>
          <a:p>
            <a:r>
              <a:rPr lang="en-US" b="1" dirty="0"/>
              <a:t>SOCIAL MEDIA CONTENT OBJECTIVES</a:t>
            </a:r>
          </a:p>
        </p:txBody>
      </p:sp>
      <p:sp>
        <p:nvSpPr>
          <p:cNvPr id="3" name="Content Placeholder 2">
            <a:extLst>
              <a:ext uri="{FF2B5EF4-FFF2-40B4-BE49-F238E27FC236}">
                <a16:creationId xmlns:a16="http://schemas.microsoft.com/office/drawing/2014/main" id="{9CB22CF0-5383-4D89-D344-DB03E926192E}"/>
              </a:ext>
            </a:extLst>
          </p:cNvPr>
          <p:cNvSpPr>
            <a:spLocks noGrp="1"/>
          </p:cNvSpPr>
          <p:nvPr>
            <p:ph idx="1"/>
          </p:nvPr>
        </p:nvSpPr>
        <p:spPr/>
        <p:txBody>
          <a:bodyPr>
            <a:normAutofit fontScale="77500" lnSpcReduction="20000"/>
          </a:bodyPr>
          <a:lstStyle/>
          <a:p>
            <a:pPr marL="0" indent="0">
              <a:buNone/>
            </a:pPr>
            <a:r>
              <a:rPr lang="en-US" b="1" dirty="0">
                <a:latin typeface="Arial" panose="020B0604020202020204" pitchFamily="34" charset="0"/>
                <a:cs typeface="Arial" panose="020B0604020202020204" pitchFamily="34" charset="0"/>
              </a:rPr>
              <a:t>CONTENT OBJECTIVES</a:t>
            </a:r>
            <a:r>
              <a:rPr lang="en-US" dirty="0">
                <a:latin typeface="Arial" panose="020B0604020202020204" pitchFamily="34" charset="0"/>
                <a:cs typeface="Arial" panose="020B0604020202020204" pitchFamily="34" charset="0"/>
              </a:rPr>
              <a:t>
The social media strategy will focus on four major objectives:
1. Brand Awareness
Increase Sapphire’s visibility through consistent and visually recognizable content.
2. Audience Engagement
Encourage comments, shares, saves, polls, and other meaningful interactions.
3. Product Discovery
Present collections through creative visuals, styling content, and product-focused posts</a:t>
            </a:r>
          </a:p>
          <a:p>
            <a:pPr marL="0" indent="0">
              <a:buNone/>
            </a:pPr>
            <a:r>
              <a:rPr lang="en-US" dirty="0">
                <a:latin typeface="Arial" panose="020B0604020202020204" pitchFamily="34" charset="0"/>
                <a:cs typeface="Arial" panose="020B0604020202020204" pitchFamily="34" charset="0"/>
              </a:rPr>
              <a:t> 4. Conversion &amp; Action
Guide interested audiences toward exploring products, visiting the website, or making a purchase.</a:t>
            </a:r>
          </a:p>
        </p:txBody>
      </p:sp>
    </p:spTree>
    <p:extLst>
      <p:ext uri="{BB962C8B-B14F-4D97-AF65-F5344CB8AC3E}">
        <p14:creationId xmlns:p14="http://schemas.microsoft.com/office/powerpoint/2010/main" val="3788520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DD2B4-AC1B-7972-A39F-FC55C51D0ACA}"/>
              </a:ext>
            </a:extLst>
          </p:cNvPr>
          <p:cNvSpPr>
            <a:spLocks noGrp="1"/>
          </p:cNvSpPr>
          <p:nvPr>
            <p:ph type="title"/>
          </p:nvPr>
        </p:nvSpPr>
        <p:spPr>
          <a:xfrm>
            <a:off x="838200" y="365125"/>
            <a:ext cx="10515600" cy="1010047"/>
          </a:xfrm>
          <a:solidFill>
            <a:schemeClr val="accent5">
              <a:lumMod val="40000"/>
              <a:lumOff val="60000"/>
            </a:schemeClr>
          </a:solidFill>
        </p:spPr>
        <p:txBody>
          <a:bodyPr/>
          <a:lstStyle/>
          <a:p>
            <a:r>
              <a:rPr lang="en-US" b="1" dirty="0"/>
              <a:t>SAPPHIRE CONTENT PILLARS </a:t>
            </a:r>
          </a:p>
        </p:txBody>
      </p:sp>
      <p:graphicFrame>
        <p:nvGraphicFramePr>
          <p:cNvPr id="5" name="Table 4">
            <a:extLst>
              <a:ext uri="{FF2B5EF4-FFF2-40B4-BE49-F238E27FC236}">
                <a16:creationId xmlns:a16="http://schemas.microsoft.com/office/drawing/2014/main" id="{42FD8246-E84D-9E47-7697-9A745936343A}"/>
              </a:ext>
            </a:extLst>
          </p:cNvPr>
          <p:cNvGraphicFramePr>
            <a:graphicFrameLocks noGrp="1"/>
          </p:cNvGraphicFramePr>
          <p:nvPr>
            <p:extLst>
              <p:ext uri="{D42A27DB-BD31-4B8C-83A1-F6EECF244321}">
                <p14:modId xmlns:p14="http://schemas.microsoft.com/office/powerpoint/2010/main" val="1673870882"/>
              </p:ext>
            </p:extLst>
          </p:nvPr>
        </p:nvGraphicFramePr>
        <p:xfrm>
          <a:off x="5078015" y="-4304644"/>
          <a:ext cx="8128002" cy="2499360"/>
        </p:xfrm>
        <a:graphic>
          <a:graphicData uri="http://schemas.openxmlformats.org/drawingml/2006/table">
            <a:tbl>
              <a:tblPr firstRow="1" bandRow="1">
                <a:tableStyleId>{2D5ABB26-0587-4C30-8999-92F81FD0307C}</a:tableStyleId>
              </a:tblPr>
              <a:tblGrid>
                <a:gridCol w="1354667">
                  <a:extLst>
                    <a:ext uri="{9D8B030D-6E8A-4147-A177-3AD203B41FA5}">
                      <a16:colId xmlns:a16="http://schemas.microsoft.com/office/drawing/2014/main" val="828512813"/>
                    </a:ext>
                  </a:extLst>
                </a:gridCol>
                <a:gridCol w="1354667">
                  <a:extLst>
                    <a:ext uri="{9D8B030D-6E8A-4147-A177-3AD203B41FA5}">
                      <a16:colId xmlns:a16="http://schemas.microsoft.com/office/drawing/2014/main" val="2455304953"/>
                    </a:ext>
                  </a:extLst>
                </a:gridCol>
                <a:gridCol w="1354667">
                  <a:extLst>
                    <a:ext uri="{9D8B030D-6E8A-4147-A177-3AD203B41FA5}">
                      <a16:colId xmlns:a16="http://schemas.microsoft.com/office/drawing/2014/main" val="2210581576"/>
                    </a:ext>
                  </a:extLst>
                </a:gridCol>
                <a:gridCol w="1354667">
                  <a:extLst>
                    <a:ext uri="{9D8B030D-6E8A-4147-A177-3AD203B41FA5}">
                      <a16:colId xmlns:a16="http://schemas.microsoft.com/office/drawing/2014/main" val="1582736921"/>
                    </a:ext>
                  </a:extLst>
                </a:gridCol>
                <a:gridCol w="1354667">
                  <a:extLst>
                    <a:ext uri="{9D8B030D-6E8A-4147-A177-3AD203B41FA5}">
                      <a16:colId xmlns:a16="http://schemas.microsoft.com/office/drawing/2014/main" val="94481909"/>
                    </a:ext>
                  </a:extLst>
                </a:gridCol>
                <a:gridCol w="1354667">
                  <a:extLst>
                    <a:ext uri="{9D8B030D-6E8A-4147-A177-3AD203B41FA5}">
                      <a16:colId xmlns:a16="http://schemas.microsoft.com/office/drawing/2014/main" val="3295178045"/>
                    </a:ext>
                  </a:extLst>
                </a:gridCol>
              </a:tblGrid>
              <a:tr h="624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40134378"/>
                  </a:ext>
                </a:extLst>
              </a:tr>
              <a:tr h="624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82215048"/>
                  </a:ext>
                </a:extLst>
              </a:tr>
              <a:tr h="624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3382051221"/>
                  </a:ext>
                </a:extLst>
              </a:tr>
              <a:tr h="624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129351558"/>
                  </a:ext>
                </a:extLst>
              </a:tr>
            </a:tbl>
          </a:graphicData>
        </a:graphic>
      </p:graphicFrame>
      <p:graphicFrame>
        <p:nvGraphicFramePr>
          <p:cNvPr id="6" name="Table 5">
            <a:extLst>
              <a:ext uri="{FF2B5EF4-FFF2-40B4-BE49-F238E27FC236}">
                <a16:creationId xmlns:a16="http://schemas.microsoft.com/office/drawing/2014/main" id="{009EEF8B-D53C-D72B-07C2-CD3B3B1C8F58}"/>
              </a:ext>
            </a:extLst>
          </p:cNvPr>
          <p:cNvGraphicFramePr>
            <a:graphicFrameLocks noGrp="1"/>
          </p:cNvGraphicFramePr>
          <p:nvPr>
            <p:extLst>
              <p:ext uri="{D42A27DB-BD31-4B8C-83A1-F6EECF244321}">
                <p14:modId xmlns:p14="http://schemas.microsoft.com/office/powerpoint/2010/main" val="2613401606"/>
              </p:ext>
            </p:extLst>
          </p:nvPr>
        </p:nvGraphicFramePr>
        <p:xfrm>
          <a:off x="1834754" y="1823357"/>
          <a:ext cx="9018984" cy="4142667"/>
        </p:xfrm>
        <a:graphic>
          <a:graphicData uri="http://schemas.openxmlformats.org/drawingml/2006/table">
            <a:tbl>
              <a:tblPr firstRow="1" bandRow="1">
                <a:tableStyleId>{5C22544A-7EE6-4342-B048-85BDC9FD1C3A}</a:tableStyleId>
              </a:tblPr>
              <a:tblGrid>
                <a:gridCol w="4509492">
                  <a:extLst>
                    <a:ext uri="{9D8B030D-6E8A-4147-A177-3AD203B41FA5}">
                      <a16:colId xmlns:a16="http://schemas.microsoft.com/office/drawing/2014/main" val="2858324543"/>
                    </a:ext>
                  </a:extLst>
                </a:gridCol>
                <a:gridCol w="4509492">
                  <a:extLst>
                    <a:ext uri="{9D8B030D-6E8A-4147-A177-3AD203B41FA5}">
                      <a16:colId xmlns:a16="http://schemas.microsoft.com/office/drawing/2014/main" val="646007339"/>
                    </a:ext>
                  </a:extLst>
                </a:gridCol>
              </a:tblGrid>
              <a:tr h="832645">
                <a:tc>
                  <a:txBody>
                    <a:bodyPr/>
                    <a:lstStyle/>
                    <a:p>
                      <a:r>
                        <a:rPr lang="en-US" dirty="0"/>
                        <a:t>Product Showcase</a:t>
                      </a:r>
                    </a:p>
                  </a:txBody>
                  <a:tcPr>
                    <a:solidFill>
                      <a:schemeClr val="accent5">
                        <a:lumMod val="40000"/>
                        <a:lumOff val="60000"/>
                      </a:schemeClr>
                    </a:solidFill>
                  </a:tcPr>
                </a:tc>
                <a:tc>
                  <a:txBody>
                    <a:bodyPr/>
                    <a:lstStyle/>
                    <a:p>
                      <a:r>
                        <a:rPr lang="en-US" dirty="0"/>
                        <a:t>Highlight products, collections, details and features.</a:t>
                      </a:r>
                    </a:p>
                  </a:txBody>
                  <a:tcPr>
                    <a:solidFill>
                      <a:schemeClr val="accent5">
                        <a:lumMod val="40000"/>
                        <a:lumOff val="60000"/>
                      </a:schemeClr>
                    </a:solidFill>
                  </a:tcPr>
                </a:tc>
                <a:extLst>
                  <a:ext uri="{0D108BD9-81ED-4DB2-BD59-A6C34878D82A}">
                    <a16:rowId xmlns:a16="http://schemas.microsoft.com/office/drawing/2014/main" val="1795639555"/>
                  </a:ext>
                </a:extLst>
              </a:tr>
              <a:tr h="822366">
                <a:tc>
                  <a:txBody>
                    <a:bodyPr/>
                    <a:lstStyle/>
                    <a:p>
                      <a:r>
                        <a:rPr lang="en-US" b="1" dirty="0">
                          <a:solidFill>
                            <a:schemeClr val="bg1"/>
                          </a:solidFill>
                        </a:rPr>
                        <a:t>Inspiration</a:t>
                      </a:r>
                    </a:p>
                  </a:txBody>
                  <a:tcPr>
                    <a:solidFill>
                      <a:schemeClr val="accent5">
                        <a:lumMod val="40000"/>
                        <a:lumOff val="60000"/>
                      </a:schemeClr>
                    </a:solidFill>
                  </a:tcPr>
                </a:tc>
                <a:tc>
                  <a:txBody>
                    <a:bodyPr/>
                    <a:lstStyle/>
                    <a:p>
                      <a:r>
                        <a:rPr lang="en-US" b="1" dirty="0">
                          <a:solidFill>
                            <a:schemeClr val="bg1"/>
                          </a:solidFill>
                        </a:rPr>
                        <a:t>Provide outfit combinations and styling ideas.</a:t>
                      </a:r>
                    </a:p>
                  </a:txBody>
                  <a:tcPr>
                    <a:solidFill>
                      <a:schemeClr val="accent5">
                        <a:lumMod val="40000"/>
                        <a:lumOff val="60000"/>
                      </a:schemeClr>
                    </a:solidFill>
                  </a:tcPr>
                </a:tc>
                <a:extLst>
                  <a:ext uri="{0D108BD9-81ED-4DB2-BD59-A6C34878D82A}">
                    <a16:rowId xmlns:a16="http://schemas.microsoft.com/office/drawing/2014/main" val="3217670227"/>
                  </a:ext>
                </a:extLst>
              </a:tr>
              <a:tr h="832645">
                <a:tc>
                  <a:txBody>
                    <a:bodyPr/>
                    <a:lstStyle/>
                    <a:p>
                      <a:r>
                        <a:rPr lang="en-US" b="1" dirty="0">
                          <a:solidFill>
                            <a:schemeClr val="bg1"/>
                          </a:solidFill>
                        </a:rPr>
                        <a:t>Fashion &amp; Trends</a:t>
                      </a:r>
                    </a:p>
                  </a:txBody>
                  <a:tcPr>
                    <a:solidFill>
                      <a:schemeClr val="accent5">
                        <a:lumMod val="40000"/>
                        <a:lumOff val="60000"/>
                      </a:schemeClr>
                    </a:solidFill>
                  </a:tcPr>
                </a:tc>
                <a:tc>
                  <a:txBody>
                    <a:bodyPr/>
                    <a:lstStyle/>
                    <a:p>
                      <a:r>
                        <a:rPr lang="en-US" b="1" dirty="0">
                          <a:solidFill>
                            <a:schemeClr val="bg1"/>
                          </a:solidFill>
                        </a:rPr>
                        <a:t>Connect Sapphire with current fashion conversations.</a:t>
                      </a:r>
                    </a:p>
                  </a:txBody>
                  <a:tcPr>
                    <a:solidFill>
                      <a:schemeClr val="accent5">
                        <a:lumMod val="40000"/>
                        <a:lumOff val="60000"/>
                      </a:schemeClr>
                    </a:solidFill>
                  </a:tcPr>
                </a:tc>
                <a:extLst>
                  <a:ext uri="{0D108BD9-81ED-4DB2-BD59-A6C34878D82A}">
                    <a16:rowId xmlns:a16="http://schemas.microsoft.com/office/drawing/2014/main" val="2220626287"/>
                  </a:ext>
                </a:extLst>
              </a:tr>
              <a:tr h="822366">
                <a:tc>
                  <a:txBody>
                    <a:bodyPr/>
                    <a:lstStyle/>
                    <a:p>
                      <a:r>
                        <a:rPr lang="en-US" b="1" dirty="0">
                          <a:solidFill>
                            <a:schemeClr val="bg1"/>
                          </a:solidFill>
                        </a:rPr>
                        <a:t>Brand Storytelling</a:t>
                      </a:r>
                    </a:p>
                  </a:txBody>
                  <a:tcPr>
                    <a:solidFill>
                      <a:schemeClr val="accent5">
                        <a:lumMod val="40000"/>
                        <a:lumOff val="60000"/>
                      </a:schemeClr>
                    </a:solidFill>
                  </a:tcPr>
                </a:tc>
                <a:tc>
                  <a:txBody>
                    <a:bodyPr/>
                    <a:lstStyle/>
                    <a:p>
                      <a:r>
                        <a:rPr lang="en-US" b="1" dirty="0">
                          <a:solidFill>
                            <a:schemeClr val="bg1"/>
                          </a:solidFill>
                        </a:rPr>
                        <a:t>Communicate Sapphire’s identity, aesthetic and values</a:t>
                      </a:r>
                    </a:p>
                  </a:txBody>
                  <a:tcPr>
                    <a:solidFill>
                      <a:schemeClr val="accent5">
                        <a:lumMod val="40000"/>
                        <a:lumOff val="60000"/>
                      </a:schemeClr>
                    </a:solidFill>
                  </a:tcPr>
                </a:tc>
                <a:extLst>
                  <a:ext uri="{0D108BD9-81ED-4DB2-BD59-A6C34878D82A}">
                    <a16:rowId xmlns:a16="http://schemas.microsoft.com/office/drawing/2014/main" val="3164454123"/>
                  </a:ext>
                </a:extLst>
              </a:tr>
              <a:tr h="832645">
                <a:tc>
                  <a:txBody>
                    <a:bodyPr/>
                    <a:lstStyle/>
                    <a:p>
                      <a:r>
                        <a:rPr lang="en-US" b="1" dirty="0">
                          <a:solidFill>
                            <a:schemeClr val="bg1"/>
                          </a:solidFill>
                        </a:rPr>
                        <a:t>Engagement Content</a:t>
                      </a:r>
                    </a:p>
                  </a:txBody>
                  <a:tcPr>
                    <a:solidFill>
                      <a:schemeClr val="accent5">
                        <a:lumMod val="40000"/>
                        <a:lumOff val="60000"/>
                      </a:schemeClr>
                    </a:solidFill>
                  </a:tcPr>
                </a:tc>
                <a:tc>
                  <a:txBody>
                    <a:bodyPr/>
                    <a:lstStyle/>
                    <a:p>
                      <a:r>
                        <a:rPr lang="en-US" b="1" dirty="0">
                          <a:solidFill>
                            <a:schemeClr val="bg1"/>
                          </a:solidFill>
                        </a:rPr>
                        <a:t>Encourage interaction through questions, polls and relatable content.</a:t>
                      </a:r>
                    </a:p>
                  </a:txBody>
                  <a:tcPr>
                    <a:solidFill>
                      <a:schemeClr val="accent5">
                        <a:lumMod val="40000"/>
                        <a:lumOff val="60000"/>
                      </a:schemeClr>
                    </a:solidFill>
                  </a:tcPr>
                </a:tc>
                <a:extLst>
                  <a:ext uri="{0D108BD9-81ED-4DB2-BD59-A6C34878D82A}">
                    <a16:rowId xmlns:a16="http://schemas.microsoft.com/office/drawing/2014/main" val="1449543133"/>
                  </a:ext>
                </a:extLst>
              </a:tr>
            </a:tbl>
          </a:graphicData>
        </a:graphic>
      </p:graphicFrame>
    </p:spTree>
    <p:extLst>
      <p:ext uri="{BB962C8B-B14F-4D97-AF65-F5344CB8AC3E}">
        <p14:creationId xmlns:p14="http://schemas.microsoft.com/office/powerpoint/2010/main" val="3587620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2EFAC-F18D-1C56-49C2-0D14E397AFEB}"/>
              </a:ext>
            </a:extLst>
          </p:cNvPr>
          <p:cNvSpPr>
            <a:spLocks noGrp="1"/>
          </p:cNvSpPr>
          <p:nvPr>
            <p:ph type="title"/>
          </p:nvPr>
        </p:nvSpPr>
        <p:spPr>
          <a:xfrm>
            <a:off x="914400" y="104775"/>
            <a:ext cx="10515600" cy="1325563"/>
          </a:xfrm>
          <a:solidFill>
            <a:schemeClr val="accent5">
              <a:lumMod val="40000"/>
              <a:lumOff val="60000"/>
            </a:schemeClr>
          </a:solidFill>
        </p:spPr>
        <p:txBody>
          <a:bodyPr/>
          <a:lstStyle/>
          <a:p>
            <a:r>
              <a:rPr lang="en-US" b="1" dirty="0"/>
              <a:t>CONTENT</a:t>
            </a:r>
            <a:r>
              <a:rPr lang="en-US" dirty="0"/>
              <a:t> </a:t>
            </a:r>
            <a:r>
              <a:rPr lang="en-US" b="1" dirty="0"/>
              <a:t>IDEAS</a:t>
            </a:r>
          </a:p>
        </p:txBody>
      </p:sp>
      <p:sp>
        <p:nvSpPr>
          <p:cNvPr id="3" name="Content Placeholder 2">
            <a:extLst>
              <a:ext uri="{FF2B5EF4-FFF2-40B4-BE49-F238E27FC236}">
                <a16:creationId xmlns:a16="http://schemas.microsoft.com/office/drawing/2014/main" id="{8AFD0DFB-2256-C697-D36D-FA64B5D71658}"/>
              </a:ext>
            </a:extLst>
          </p:cNvPr>
          <p:cNvSpPr>
            <a:spLocks noGrp="1"/>
          </p:cNvSpPr>
          <p:nvPr>
            <p:ph sz="half" idx="2"/>
          </p:nvPr>
        </p:nvSpPr>
        <p:spPr>
          <a:xfrm>
            <a:off x="836612" y="1589484"/>
            <a:ext cx="5157787" cy="4600179"/>
          </a:xfrm>
        </p:spPr>
        <p:txBody>
          <a:bodyPr>
            <a:normAutofit fontScale="77500" lnSpcReduction="20000"/>
          </a:bodyPr>
          <a:lstStyle/>
          <a:p>
            <a:pPr marL="0" indent="0">
              <a:buNone/>
            </a:pPr>
            <a:r>
              <a:rPr lang="en-US" dirty="0">
                <a:latin typeface="Bahnschrift Light Condensed" panose="020B0502040204020203" pitchFamily="34" charset="0"/>
              </a:rPr>
              <a:t>1. </a:t>
            </a:r>
            <a:r>
              <a:rPr lang="en-US" dirty="0">
                <a:latin typeface="Arial" panose="020B0604020202020204" pitchFamily="34" charset="0"/>
                <a:cs typeface="Arial" panose="020B0604020202020204" pitchFamily="34" charset="0"/>
              </a:rPr>
              <a:t>New Collection Spotlight
Introduce new arrivals through high-quality product photography and concise product-focused messaging.
2. “Style It Your Way”
Show different ways to style the same Sapphire outfit for different occasions.
3. Behind the Look
Present the creative process behind a campaign, collection, or fashion shoot.
4. This or That?
Create interactive posts allowing followers to choose between two outfits or styles</a:t>
            </a:r>
          </a:p>
        </p:txBody>
      </p:sp>
      <p:sp>
        <p:nvSpPr>
          <p:cNvPr id="6" name="Content Placeholder 5">
            <a:extLst>
              <a:ext uri="{FF2B5EF4-FFF2-40B4-BE49-F238E27FC236}">
                <a16:creationId xmlns:a16="http://schemas.microsoft.com/office/drawing/2014/main" id="{A036855A-0CAB-E6A2-3105-43611ACA0763}"/>
              </a:ext>
            </a:extLst>
          </p:cNvPr>
          <p:cNvSpPr>
            <a:spLocks noGrp="1"/>
          </p:cNvSpPr>
          <p:nvPr>
            <p:ph sz="quarter" idx="4"/>
          </p:nvPr>
        </p:nvSpPr>
        <p:spPr/>
        <p:txBody>
          <a:bodyPr>
            <a:normAutofit fontScale="77500" lnSpcReduction="20000"/>
          </a:bodyPr>
          <a:lstStyle/>
          <a:p>
            <a:pPr marL="0" indent="0">
              <a:buNone/>
            </a:pPr>
            <a:r>
              <a:rPr lang="en-US" dirty="0">
                <a:latin typeface="Arial" panose="020B0604020202020204" pitchFamily="34" charset="0"/>
                <a:cs typeface="Arial" panose="020B0604020202020204" pitchFamily="34" charset="0"/>
              </a:rPr>
              <a:t>Seasonal Style Guide
Share curated outfit recommendations according to the season or occasion.
6. Detail Focus
Highlight fabric, embroidery, prints, textures, colors, or design elements.
7. Community Feature
Showcase customer styling or user-generated content to strengthen community participation. </a:t>
            </a:r>
          </a:p>
        </p:txBody>
      </p:sp>
    </p:spTree>
    <p:extLst>
      <p:ext uri="{BB962C8B-B14F-4D97-AF65-F5344CB8AC3E}">
        <p14:creationId xmlns:p14="http://schemas.microsoft.com/office/powerpoint/2010/main" val="853361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8CE8D-ED05-8648-CC09-43C5CC8A22EF}"/>
              </a:ext>
            </a:extLst>
          </p:cNvPr>
          <p:cNvSpPr>
            <a:spLocks noGrp="1"/>
          </p:cNvSpPr>
          <p:nvPr>
            <p:ph type="title"/>
          </p:nvPr>
        </p:nvSpPr>
        <p:spPr>
          <a:solidFill>
            <a:schemeClr val="accent5">
              <a:lumMod val="40000"/>
              <a:lumOff val="60000"/>
            </a:schemeClr>
          </a:solidFill>
        </p:spPr>
        <p:txBody>
          <a:bodyPr vert="horz" lIns="91440" tIns="45720" rIns="91440" bIns="45720" rtlCol="0" anchor="ctr">
            <a:normAutofit/>
          </a:bodyPr>
          <a:lstStyle/>
          <a:p>
            <a:r>
              <a:rPr lang="en-US" b="1" dirty="0"/>
              <a:t>CONTENT FORMAT STRATEGY </a:t>
            </a:r>
          </a:p>
        </p:txBody>
      </p:sp>
      <p:sp>
        <p:nvSpPr>
          <p:cNvPr id="7" name="Text Placeholder 6">
            <a:extLst>
              <a:ext uri="{FF2B5EF4-FFF2-40B4-BE49-F238E27FC236}">
                <a16:creationId xmlns:a16="http://schemas.microsoft.com/office/drawing/2014/main" id="{C554903E-3CA0-3645-48B7-2C3A19657AC5}"/>
              </a:ext>
            </a:extLst>
          </p:cNvPr>
          <p:cNvSpPr>
            <a:spLocks noGrp="1"/>
          </p:cNvSpPr>
          <p:nvPr>
            <p:ph type="body" idx="1"/>
          </p:nvPr>
        </p:nvSpPr>
        <p:spPr>
          <a:xfrm>
            <a:off x="839788" y="2089547"/>
            <a:ext cx="5157787" cy="415528"/>
          </a:xfrm>
        </p:spPr>
        <p:txBody>
          <a:bodyPr>
            <a:normAutofit lnSpcReduction="10000"/>
          </a:bodyPr>
          <a:lstStyle/>
          <a:p>
            <a:r>
              <a:rPr lang="en-US" dirty="0"/>
              <a:t>Instagram Reels</a:t>
            </a:r>
          </a:p>
        </p:txBody>
      </p:sp>
      <p:sp>
        <p:nvSpPr>
          <p:cNvPr id="4" name="Content Placeholder 3">
            <a:extLst>
              <a:ext uri="{FF2B5EF4-FFF2-40B4-BE49-F238E27FC236}">
                <a16:creationId xmlns:a16="http://schemas.microsoft.com/office/drawing/2014/main" id="{929AA7CD-732B-5408-450A-3A628A8A2D59}"/>
              </a:ext>
            </a:extLst>
          </p:cNvPr>
          <p:cNvSpPr>
            <a:spLocks noGrp="1"/>
          </p:cNvSpPr>
          <p:nvPr>
            <p:ph sz="half" idx="2"/>
          </p:nvPr>
        </p:nvSpPr>
        <p:spPr>
          <a:xfrm>
            <a:off x="839788" y="2505075"/>
            <a:ext cx="5157787" cy="2789129"/>
          </a:xfrm>
        </p:spPr>
        <p:txBody>
          <a:bodyPr/>
          <a:lstStyle/>
          <a:p>
            <a:r>
              <a:rPr lang="en-US" dirty="0">
                <a:latin typeface="Arial" panose="020B0604020202020204" pitchFamily="34" charset="0"/>
                <a:cs typeface="Arial" panose="020B0604020202020204" pitchFamily="34" charset="0"/>
              </a:rPr>
              <a:t>Styling inspiration
New collection reveals
Fashion transitions
Trend-based content</a:t>
            </a:r>
          </a:p>
        </p:txBody>
      </p:sp>
      <p:sp>
        <p:nvSpPr>
          <p:cNvPr id="8" name="Text Placeholder 7">
            <a:extLst>
              <a:ext uri="{FF2B5EF4-FFF2-40B4-BE49-F238E27FC236}">
                <a16:creationId xmlns:a16="http://schemas.microsoft.com/office/drawing/2014/main" id="{320D30FA-5111-4CCA-895E-D148695B905D}"/>
              </a:ext>
            </a:extLst>
          </p:cNvPr>
          <p:cNvSpPr>
            <a:spLocks noGrp="1"/>
          </p:cNvSpPr>
          <p:nvPr>
            <p:ph type="body" sz="quarter" idx="3"/>
          </p:nvPr>
        </p:nvSpPr>
        <p:spPr/>
        <p:txBody>
          <a:bodyPr>
            <a:normAutofit lnSpcReduction="10000"/>
          </a:bodyPr>
          <a:lstStyle/>
          <a:p>
            <a:r>
              <a:rPr lang="en-US" dirty="0"/>
              <a:t>Carousel Posts</a:t>
            </a:r>
          </a:p>
        </p:txBody>
      </p:sp>
      <p:sp>
        <p:nvSpPr>
          <p:cNvPr id="9" name="Content Placeholder 8">
            <a:extLst>
              <a:ext uri="{FF2B5EF4-FFF2-40B4-BE49-F238E27FC236}">
                <a16:creationId xmlns:a16="http://schemas.microsoft.com/office/drawing/2014/main" id="{88E58651-D154-79BB-4F66-92D0F9F3FB1A}"/>
              </a:ext>
            </a:extLst>
          </p:cNvPr>
          <p:cNvSpPr>
            <a:spLocks noGrp="1"/>
          </p:cNvSpPr>
          <p:nvPr>
            <p:ph sz="quarter" idx="4"/>
          </p:nvPr>
        </p:nvSpPr>
        <p:spPr/>
        <p:txBody>
          <a:bodyPr/>
          <a:lstStyle/>
          <a:p>
            <a:r>
              <a:rPr lang="en-US" dirty="0">
                <a:latin typeface="Arial" panose="020B0604020202020204" pitchFamily="34" charset="0"/>
                <a:cs typeface="Arial" panose="020B0604020202020204" pitchFamily="34" charset="0"/>
              </a:rPr>
              <a:t>Product collections
Styling guides
Multiple product details
“How to Style” content</a:t>
            </a:r>
          </a:p>
        </p:txBody>
      </p:sp>
    </p:spTree>
    <p:extLst>
      <p:ext uri="{BB962C8B-B14F-4D97-AF65-F5344CB8AC3E}">
        <p14:creationId xmlns:p14="http://schemas.microsoft.com/office/powerpoint/2010/main" val="4124174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BCD5F-ED13-40AE-59B4-EDA84E618818}"/>
              </a:ext>
            </a:extLst>
          </p:cNvPr>
          <p:cNvSpPr>
            <a:spLocks noGrp="1"/>
          </p:cNvSpPr>
          <p:nvPr>
            <p:ph type="title"/>
          </p:nvPr>
        </p:nvSpPr>
        <p:spPr>
          <a:xfrm>
            <a:off x="838200" y="355600"/>
            <a:ext cx="10515600" cy="1325563"/>
          </a:xfrm>
          <a:solidFill>
            <a:schemeClr val="accent5">
              <a:lumMod val="40000"/>
              <a:lumOff val="60000"/>
            </a:schemeClr>
          </a:solidFill>
        </p:spPr>
        <p:txBody>
          <a:bodyPr vert="horz" lIns="91440" tIns="45720" rIns="91440" bIns="45720" rtlCol="0" anchor="ctr">
            <a:normAutofit/>
          </a:bodyPr>
          <a:lstStyle/>
          <a:p>
            <a:r>
              <a:rPr lang="en-US" b="1" dirty="0"/>
              <a:t>CONTENT FORMAT STRATEGY</a:t>
            </a:r>
          </a:p>
        </p:txBody>
      </p:sp>
      <p:sp>
        <p:nvSpPr>
          <p:cNvPr id="3" name="Text Placeholder 2">
            <a:extLst>
              <a:ext uri="{FF2B5EF4-FFF2-40B4-BE49-F238E27FC236}">
                <a16:creationId xmlns:a16="http://schemas.microsoft.com/office/drawing/2014/main" id="{9BEF663F-6F94-DD1E-1F02-090B8F654D68}"/>
              </a:ext>
            </a:extLst>
          </p:cNvPr>
          <p:cNvSpPr>
            <a:spLocks noGrp="1"/>
          </p:cNvSpPr>
          <p:nvPr>
            <p:ph type="body" idx="1"/>
          </p:nvPr>
        </p:nvSpPr>
        <p:spPr/>
        <p:txBody>
          <a:bodyPr/>
          <a:lstStyle/>
          <a:p>
            <a:r>
              <a:rPr lang="en-US" dirty="0"/>
              <a:t>Static Post</a:t>
            </a:r>
          </a:p>
        </p:txBody>
      </p:sp>
      <p:sp>
        <p:nvSpPr>
          <p:cNvPr id="4" name="Content Placeholder 3">
            <a:extLst>
              <a:ext uri="{FF2B5EF4-FFF2-40B4-BE49-F238E27FC236}">
                <a16:creationId xmlns:a16="http://schemas.microsoft.com/office/drawing/2014/main" id="{ECFC5316-58B9-0092-751E-7A5332C394DB}"/>
              </a:ext>
            </a:extLst>
          </p:cNvPr>
          <p:cNvSpPr>
            <a:spLocks noGrp="1"/>
          </p:cNvSpPr>
          <p:nvPr>
            <p:ph sz="half" idx="2"/>
          </p:nvPr>
        </p:nvSpPr>
        <p:spPr/>
        <p:txBody>
          <a:bodyPr/>
          <a:lstStyle/>
          <a:p>
            <a:r>
              <a:rPr lang="en-US" dirty="0">
                <a:latin typeface="Arial" panose="020B0604020202020204" pitchFamily="34" charset="0"/>
                <a:cs typeface="Arial" panose="020B0604020202020204" pitchFamily="34" charset="0"/>
              </a:rPr>
              <a:t>Product highlight</a:t>
            </a:r>
            <a:r>
              <a:rPr lang="en-US" dirty="0">
                <a:latin typeface="Bahnschrift Light Condensed" panose="020B0502040204020203" pitchFamily="34" charset="0"/>
              </a:rPr>
              <a:t>s</a:t>
            </a:r>
            <a:r>
              <a:rPr lang="en-US" dirty="0"/>
              <a:t>
</a:t>
            </a:r>
            <a:r>
              <a:rPr lang="en-US" dirty="0">
                <a:latin typeface="Arial" panose="020B0604020202020204" pitchFamily="34" charset="0"/>
                <a:cs typeface="Arial" panose="020B0604020202020204" pitchFamily="34" charset="0"/>
              </a:rPr>
              <a:t>Brand messages
Campaign visuals
Promotional communication</a:t>
            </a:r>
          </a:p>
        </p:txBody>
      </p:sp>
      <p:sp>
        <p:nvSpPr>
          <p:cNvPr id="5" name="Text Placeholder 4">
            <a:extLst>
              <a:ext uri="{FF2B5EF4-FFF2-40B4-BE49-F238E27FC236}">
                <a16:creationId xmlns:a16="http://schemas.microsoft.com/office/drawing/2014/main" id="{9F5C2245-9BBD-2029-FC54-73A5C61876B9}"/>
              </a:ext>
            </a:extLst>
          </p:cNvPr>
          <p:cNvSpPr>
            <a:spLocks noGrp="1"/>
          </p:cNvSpPr>
          <p:nvPr>
            <p:ph type="body" sz="quarter" idx="3"/>
          </p:nvPr>
        </p:nvSpPr>
        <p:spPr/>
        <p:txBody>
          <a:bodyPr/>
          <a:lstStyle/>
          <a:p>
            <a:r>
              <a:rPr lang="en-US" dirty="0"/>
              <a:t>Stories</a:t>
            </a:r>
          </a:p>
        </p:txBody>
      </p:sp>
      <p:sp>
        <p:nvSpPr>
          <p:cNvPr id="6" name="Content Placeholder 5">
            <a:extLst>
              <a:ext uri="{FF2B5EF4-FFF2-40B4-BE49-F238E27FC236}">
                <a16:creationId xmlns:a16="http://schemas.microsoft.com/office/drawing/2014/main" id="{491E5B78-4ACB-40FE-519A-9E5EDB1B9AA2}"/>
              </a:ext>
            </a:extLst>
          </p:cNvPr>
          <p:cNvSpPr>
            <a:spLocks noGrp="1"/>
          </p:cNvSpPr>
          <p:nvPr>
            <p:ph sz="quarter" idx="4"/>
          </p:nvPr>
        </p:nvSpPr>
        <p:spPr/>
        <p:txBody>
          <a:bodyPr/>
          <a:lstStyle/>
          <a:p>
            <a:r>
              <a:rPr lang="en-US" dirty="0">
                <a:latin typeface="Arial" panose="020B0604020202020204" pitchFamily="34" charset="0"/>
                <a:cs typeface="Arial" panose="020B0604020202020204" pitchFamily="34" charset="0"/>
              </a:rPr>
              <a:t>Polls</a:t>
            </a:r>
            <a:r>
              <a:rPr lang="en-US" dirty="0">
                <a:latin typeface="Bahnschrift Light Condensed" panose="020B0502040204020203" pitchFamily="34" charset="0"/>
              </a:rPr>
              <a:t>
</a:t>
            </a:r>
            <a:r>
              <a:rPr lang="en-US" dirty="0">
                <a:latin typeface="Arial" panose="020B0604020202020204" pitchFamily="34" charset="0"/>
                <a:cs typeface="Arial" panose="020B0604020202020204" pitchFamily="34" charset="0"/>
              </a:rPr>
              <a:t>Questions</a:t>
            </a:r>
            <a:r>
              <a:rPr lang="en-US" dirty="0">
                <a:latin typeface="Bahnschrift Light Condensed" panose="020B0502040204020203" pitchFamily="34" charset="0"/>
              </a:rPr>
              <a:t>
</a:t>
            </a:r>
            <a:r>
              <a:rPr lang="en-US" dirty="0">
                <a:latin typeface="Arial" panose="020B0604020202020204" pitchFamily="34" charset="0"/>
                <a:cs typeface="Arial" panose="020B0604020202020204" pitchFamily="34" charset="0"/>
              </a:rPr>
              <a:t>Quick</a:t>
            </a:r>
            <a:r>
              <a:rPr lang="en-US" dirty="0">
                <a:latin typeface="Bahnschrift Light Condensed" panose="020B0502040204020203" pitchFamily="34" charset="0"/>
              </a:rPr>
              <a:t> </a:t>
            </a:r>
            <a:r>
              <a:rPr lang="en-US" dirty="0">
                <a:latin typeface="Arial" panose="020B0604020202020204" pitchFamily="34" charset="0"/>
                <a:cs typeface="Arial" panose="020B0604020202020204" pitchFamily="34" charset="0"/>
              </a:rPr>
              <a:t>updates</a:t>
            </a:r>
            <a:r>
              <a:rPr lang="en-US" dirty="0">
                <a:latin typeface="Bahnschrift Light Condensed" panose="020B0502040204020203" pitchFamily="34" charset="0"/>
              </a:rPr>
              <a:t>
</a:t>
            </a:r>
            <a:r>
              <a:rPr lang="en-US" dirty="0">
                <a:latin typeface="Arial" panose="020B0604020202020204" pitchFamily="34" charset="0"/>
                <a:cs typeface="Arial" panose="020B0604020202020204" pitchFamily="34" charset="0"/>
              </a:rPr>
              <a:t>Product</a:t>
            </a:r>
            <a:r>
              <a:rPr lang="en-US" dirty="0">
                <a:latin typeface="Bahnschrift Light Condensed" panose="020B0502040204020203" pitchFamily="34" charset="0"/>
              </a:rPr>
              <a:t> </a:t>
            </a:r>
            <a:r>
              <a:rPr lang="en-US" dirty="0">
                <a:latin typeface="Arial" panose="020B0604020202020204" pitchFamily="34" charset="0"/>
                <a:cs typeface="Arial" panose="020B0604020202020204" pitchFamily="34" charset="0"/>
              </a:rPr>
              <a:t>links</a:t>
            </a:r>
            <a:r>
              <a:rPr lang="en-US" dirty="0">
                <a:latin typeface="Bahnschrift Light Condensed" panose="020B0502040204020203" pitchFamily="34" charset="0"/>
              </a:rPr>
              <a:t>
</a:t>
            </a:r>
            <a:r>
              <a:rPr lang="en-US" dirty="0">
                <a:latin typeface="Arial" panose="020B0604020202020204" pitchFamily="34" charset="0"/>
                <a:cs typeface="Arial" panose="020B0604020202020204" pitchFamily="34" charset="0"/>
              </a:rPr>
              <a:t>Audience</a:t>
            </a:r>
            <a:r>
              <a:rPr lang="en-US" dirty="0">
                <a:latin typeface="Bahnschrift Light Condensed" panose="020B0502040204020203" pitchFamily="34" charset="0"/>
              </a:rPr>
              <a:t> </a:t>
            </a:r>
            <a:r>
              <a:rPr lang="en-US" dirty="0">
                <a:latin typeface="Arial" panose="020B0604020202020204" pitchFamily="34" charset="0"/>
                <a:cs typeface="Arial" panose="020B0604020202020204" pitchFamily="34" charset="0"/>
              </a:rPr>
              <a:t>interaction</a:t>
            </a:r>
          </a:p>
        </p:txBody>
      </p:sp>
    </p:spTree>
    <p:extLst>
      <p:ext uri="{BB962C8B-B14F-4D97-AF65-F5344CB8AC3E}">
        <p14:creationId xmlns:p14="http://schemas.microsoft.com/office/powerpoint/2010/main" val="1176305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3EFE4-0A81-4F78-9D7B-A6A374F69559}"/>
              </a:ext>
            </a:extLst>
          </p:cNvPr>
          <p:cNvSpPr>
            <a:spLocks noGrp="1"/>
          </p:cNvSpPr>
          <p:nvPr>
            <p:ph type="title"/>
          </p:nvPr>
        </p:nvSpPr>
        <p:spPr>
          <a:solidFill>
            <a:schemeClr val="accent5">
              <a:lumMod val="40000"/>
              <a:lumOff val="60000"/>
            </a:schemeClr>
          </a:solidFill>
        </p:spPr>
        <p:txBody>
          <a:bodyPr>
            <a:normAutofit/>
          </a:bodyPr>
          <a:lstStyle/>
          <a:p>
            <a:r>
              <a:rPr lang="en-US" b="1" dirty="0"/>
              <a:t>CTA &amp; ENGAGEMENT STRATEGY</a:t>
            </a:r>
          </a:p>
        </p:txBody>
      </p:sp>
      <p:sp>
        <p:nvSpPr>
          <p:cNvPr id="4" name="Content Placeholder 3">
            <a:extLst>
              <a:ext uri="{FF2B5EF4-FFF2-40B4-BE49-F238E27FC236}">
                <a16:creationId xmlns:a16="http://schemas.microsoft.com/office/drawing/2014/main" id="{0BB92FF6-53B7-EF6B-5C69-959DEFDCF419}"/>
              </a:ext>
            </a:extLst>
          </p:cNvPr>
          <p:cNvSpPr>
            <a:spLocks noGrp="1"/>
          </p:cNvSpPr>
          <p:nvPr>
            <p:ph idx="1"/>
          </p:nvPr>
        </p:nvSpPr>
        <p:spPr/>
        <p:txBody>
          <a:bodyPr>
            <a:normAutofit fontScale="40000" lnSpcReduction="20000"/>
          </a:bodyPr>
          <a:lstStyle/>
          <a:p>
            <a:r>
              <a:rPr lang="en-US" sz="3800" dirty="0">
                <a:latin typeface="Arial" panose="020B0604020202020204" pitchFamily="34" charset="0"/>
                <a:cs typeface="Arial" panose="020B0604020202020204" pitchFamily="34" charset="0"/>
              </a:rPr>
              <a:t>Turning Content Into Conversations
Every post should encourage the audience to take a meaningful action.
</a:t>
            </a:r>
            <a:r>
              <a:rPr lang="en-US" sz="3800" b="1" dirty="0">
                <a:latin typeface="Arial" panose="020B0604020202020204" pitchFamily="34" charset="0"/>
                <a:cs typeface="Arial" panose="020B0604020202020204" pitchFamily="34" charset="0"/>
              </a:rPr>
              <a:t>Primary</a:t>
            </a:r>
            <a:r>
              <a:rPr lang="en-US" sz="3800" dirty="0">
                <a:latin typeface="Arial" panose="020B0604020202020204" pitchFamily="34" charset="0"/>
                <a:cs typeface="Arial" panose="020B0604020202020204" pitchFamily="34" charset="0"/>
              </a:rPr>
              <a:t> </a:t>
            </a:r>
            <a:r>
              <a:rPr lang="en-US" sz="3800" b="1" dirty="0">
                <a:latin typeface="Arial" panose="020B0604020202020204" pitchFamily="34" charset="0"/>
                <a:cs typeface="Arial" panose="020B0604020202020204" pitchFamily="34" charset="0"/>
              </a:rPr>
              <a:t>CTAs</a:t>
            </a:r>
            <a:r>
              <a:rPr lang="en-US" sz="3800" dirty="0">
                <a:latin typeface="Arial" panose="020B0604020202020204" pitchFamily="34" charset="0"/>
                <a:cs typeface="Arial" panose="020B0604020202020204" pitchFamily="34" charset="0"/>
              </a:rPr>
              <a:t>
Explore the Collection
Shop the Look
Save for Later
Share With a Friend
Tell Us Your Favorite
Vote Now
Tag Someone
Discover More
</a:t>
            </a:r>
            <a:r>
              <a:rPr lang="en-US" sz="3800" b="1" dirty="0">
                <a:latin typeface="Arial" panose="020B0604020202020204" pitchFamily="34" charset="0"/>
                <a:cs typeface="Arial" panose="020B0604020202020204" pitchFamily="34" charset="0"/>
              </a:rPr>
              <a:t>ENGAGEMENT</a:t>
            </a:r>
            <a:r>
              <a:rPr lang="en-US" sz="3800" dirty="0">
                <a:latin typeface="Arial" panose="020B0604020202020204" pitchFamily="34" charset="0"/>
                <a:cs typeface="Arial" panose="020B0604020202020204" pitchFamily="34" charset="0"/>
              </a:rPr>
              <a:t> </a:t>
            </a:r>
            <a:r>
              <a:rPr lang="en-US" sz="3800" b="1" dirty="0">
                <a:latin typeface="Arial" panose="020B0604020202020204" pitchFamily="34" charset="0"/>
                <a:cs typeface="Arial" panose="020B0604020202020204" pitchFamily="34" charset="0"/>
              </a:rPr>
              <a:t>APPROACH</a:t>
            </a:r>
            <a:r>
              <a:rPr lang="en-US" sz="3800" dirty="0">
                <a:latin typeface="Arial" panose="020B0604020202020204" pitchFamily="34" charset="0"/>
                <a:cs typeface="Arial" panose="020B0604020202020204" pitchFamily="34" charset="0"/>
              </a:rPr>
              <a:t>
Instead of simply broadcasting product information, Sapphire’s content should create opportunities for audiences to respond, participate, save, share, </a:t>
            </a:r>
            <a:r>
              <a:rPr lang="en-US" sz="5000" dirty="0">
                <a:latin typeface="Arial" panose="020B0604020202020204" pitchFamily="34" charset="0"/>
                <a:cs typeface="Arial" panose="020B0604020202020204" pitchFamily="34" charset="0"/>
              </a:rPr>
              <a:t>a</a:t>
            </a:r>
            <a:r>
              <a:rPr lang="en-US" sz="5000" dirty="0"/>
              <a:t>nd</a:t>
            </a:r>
            <a:r>
              <a:rPr lang="en-US" dirty="0"/>
              <a:t> </a:t>
            </a:r>
            <a:r>
              <a:rPr lang="en-US" sz="5100" dirty="0"/>
              <a:t>return</a:t>
            </a:r>
            <a:r>
              <a:rPr lang="en-US" dirty="0"/>
              <a:t>.</a:t>
            </a:r>
          </a:p>
        </p:txBody>
      </p:sp>
    </p:spTree>
    <p:extLst>
      <p:ext uri="{BB962C8B-B14F-4D97-AF65-F5344CB8AC3E}">
        <p14:creationId xmlns:p14="http://schemas.microsoft.com/office/powerpoint/2010/main" val="3359258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310C6-278D-9033-AB24-18F49E9B1E85}"/>
              </a:ext>
            </a:extLst>
          </p:cNvPr>
          <p:cNvSpPr>
            <a:spLocks noGrp="1"/>
          </p:cNvSpPr>
          <p:nvPr>
            <p:ph type="title"/>
          </p:nvPr>
        </p:nvSpPr>
        <p:spPr>
          <a:solidFill>
            <a:schemeClr val="accent5">
              <a:lumMod val="40000"/>
              <a:lumOff val="60000"/>
            </a:schemeClr>
          </a:solidFill>
        </p:spPr>
        <p:txBody>
          <a:bodyPr/>
          <a:lstStyle/>
          <a:p>
            <a:r>
              <a:rPr lang="en-US" b="1" dirty="0"/>
              <a:t>HASHTAG</a:t>
            </a:r>
            <a:r>
              <a:rPr lang="en-US" dirty="0"/>
              <a:t> </a:t>
            </a:r>
            <a:r>
              <a:rPr lang="en-US" b="1" dirty="0"/>
              <a:t>STRATEGY</a:t>
            </a:r>
          </a:p>
        </p:txBody>
      </p:sp>
      <p:sp>
        <p:nvSpPr>
          <p:cNvPr id="3" name="Content Placeholder 2">
            <a:extLst>
              <a:ext uri="{FF2B5EF4-FFF2-40B4-BE49-F238E27FC236}">
                <a16:creationId xmlns:a16="http://schemas.microsoft.com/office/drawing/2014/main" id="{AD3C83E3-E9C2-707C-A3D0-6156E30AD17A}"/>
              </a:ext>
            </a:extLst>
          </p:cNvPr>
          <p:cNvSpPr>
            <a:spLocks noGrp="1"/>
          </p:cNvSpPr>
          <p:nvPr>
            <p:ph idx="1"/>
          </p:nvPr>
        </p:nvSpPr>
        <p:spPr>
          <a:xfrm>
            <a:off x="838200" y="1860550"/>
            <a:ext cx="10121503" cy="4351338"/>
          </a:xfrm>
        </p:spPr>
        <p:txBody>
          <a:bodyPr>
            <a:noAutofit/>
          </a:bodyPr>
          <a:lstStyle/>
          <a:p>
            <a:pPr marL="0" indent="0">
              <a:buNone/>
            </a:pPr>
            <a:r>
              <a:rPr lang="en-US" sz="1800" b="1" dirty="0">
                <a:latin typeface="Arial" panose="020B0604020202020204" pitchFamily="34" charset="0"/>
                <a:cs typeface="Arial" panose="020B0604020202020204" pitchFamily="34" charset="0"/>
              </a:rPr>
              <a:t>Hashtag Strategy</a:t>
            </a:r>
            <a:r>
              <a:rPr lang="en-US" sz="1800" dirty="0">
                <a:latin typeface="Arial" panose="020B0604020202020204" pitchFamily="34" charset="0"/>
                <a:cs typeface="Arial" panose="020B0604020202020204" pitchFamily="34" charset="0"/>
              </a:rPr>
              <a:t>
A balanced hashtag strategy can combine brand-specific, category-based, and discovery-focused hashtags.
Brand Hashtags
#Sapphire
#SapphirePakistan
Fashion Hashtags
#PakistaniFashion
#FashionPakistan
#FashionInspiration
#StyleInspiration
Content-Specific Hashtags
#NewCollection
#StyleGuide
#WeekendStyle
#FashionTrends
#OOTD</a:t>
            </a:r>
          </a:p>
        </p:txBody>
      </p:sp>
    </p:spTree>
    <p:extLst>
      <p:ext uri="{BB962C8B-B14F-4D97-AF65-F5344CB8AC3E}">
        <p14:creationId xmlns:p14="http://schemas.microsoft.com/office/powerpoint/2010/main" val="1253242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EC62B-0A5D-620A-67EE-1E9EA47D5C63}"/>
              </a:ext>
            </a:extLst>
          </p:cNvPr>
          <p:cNvSpPr>
            <a:spLocks noGrp="1"/>
          </p:cNvSpPr>
          <p:nvPr>
            <p:ph type="title"/>
          </p:nvPr>
        </p:nvSpPr>
        <p:spPr>
          <a:solidFill>
            <a:schemeClr val="accent5">
              <a:lumMod val="40000"/>
              <a:lumOff val="60000"/>
            </a:schemeClr>
          </a:solidFill>
        </p:spPr>
        <p:txBody>
          <a:bodyPr/>
          <a:lstStyle/>
          <a:p>
            <a:r>
              <a:rPr lang="en-US" b="1" dirty="0"/>
              <a:t>CONCLUSION</a:t>
            </a:r>
            <a:r>
              <a:rPr lang="en-US" dirty="0"/>
              <a:t> </a:t>
            </a:r>
          </a:p>
        </p:txBody>
      </p:sp>
      <p:sp>
        <p:nvSpPr>
          <p:cNvPr id="3" name="Content Placeholder 2">
            <a:extLst>
              <a:ext uri="{FF2B5EF4-FFF2-40B4-BE49-F238E27FC236}">
                <a16:creationId xmlns:a16="http://schemas.microsoft.com/office/drawing/2014/main" id="{F0E794A1-5E4A-483A-59DE-51D958D51C71}"/>
              </a:ext>
            </a:extLst>
          </p:cNvPr>
          <p:cNvSpPr>
            <a:spLocks noGrp="1"/>
          </p:cNvSpPr>
          <p:nvPr>
            <p:ph idx="1"/>
          </p:nvPr>
        </p:nvSpPr>
        <p:spPr/>
        <p:txBody>
          <a:bodyPr/>
          <a:lstStyle/>
          <a:p>
            <a:r>
              <a:rPr lang="en-US" dirty="0">
                <a:latin typeface="Arial" panose="020B0604020202020204" pitchFamily="34" charset="0"/>
                <a:cs typeface="Arial" panose="020B0604020202020204" pitchFamily="34" charset="0"/>
              </a:rPr>
              <a:t>A successful social media presence requires more than frequent posting—it requires purposeful content, audience understanding, consistency, and strategic communication.
For Sapphire, the proposed 7-day content plan combines product storytelling, fashion inspiration, interactive content, trend relevance, and community engagement.
By maintaining a consistent content structure while adapting to audience interests, Sapphire can build stronger digital relationships and create a more engaging social media experience.</a:t>
            </a:r>
          </a:p>
        </p:txBody>
      </p:sp>
    </p:spTree>
    <p:extLst>
      <p:ext uri="{BB962C8B-B14F-4D97-AF65-F5344CB8AC3E}">
        <p14:creationId xmlns:p14="http://schemas.microsoft.com/office/powerpoint/2010/main" val="5610487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Sapphire </vt:lpstr>
      <vt:lpstr>About Sapphire </vt:lpstr>
      <vt:lpstr>Primary Objective </vt:lpstr>
      <vt:lpstr>TARGET AUDIENCE </vt:lpstr>
      <vt:lpstr>AUDIENCE INTERESTS &amp; ONLINE BEHAVIOR</vt:lpstr>
      <vt:lpstr>SOCIAL MEDIA CONTENT OBJECTIVES</vt:lpstr>
      <vt:lpstr>SAPPHIRE CONTENT PILLARS </vt:lpstr>
      <vt:lpstr>CONTENT IDEAS</vt:lpstr>
      <vt:lpstr>CONTENT FORMAT STRATEGY </vt:lpstr>
      <vt:lpstr>CONTENT FORMAT STRATEGY</vt:lpstr>
      <vt:lpstr>CTA &amp; ENGAGEMENT STRATEGY</vt:lpstr>
      <vt:lpstr>HASHTAG STRATEGY</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Sapphire </dc:title>
  <dc:creator>Shafaq Zaman</dc:creator>
  <cp:lastModifiedBy>Shafaq Zaman</cp:lastModifiedBy>
  <cp:revision>2</cp:revision>
  <dcterms:created xsi:type="dcterms:W3CDTF">2026-08-21T12:57:35Z</dcterms:created>
  <dcterms:modified xsi:type="dcterms:W3CDTF">2026-08-21T20:42:58Z</dcterms:modified>
</cp:coreProperties>
</file>